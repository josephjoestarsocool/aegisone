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Platform-reported ROAS</c:v>
                </c:pt>
              </c:strCache>
            </c:strRef>
          </c:tx>
          <c:spPr>
            <a:solidFill>
              <a:srgbClr val="8F9DB8"/>
            </a:solidFill>
          </c:spPr>
          <c:cat>
            <c:strRef>
              <c:f>Sheet1!$A$2:$A$5</c:f>
              <c:strCache>
                <c:ptCount val="4"/>
                <c:pt idx="0">
                  <c:v>Google</c:v>
                </c:pt>
                <c:pt idx="1">
                  <c:v>Instagram</c:v>
                </c:pt>
                <c:pt idx="2">
                  <c:v>Meta</c:v>
                </c:pt>
                <c:pt idx="3">
                  <c:v>YouTube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</c:v>
                </c:pt>
                <c:pt idx="1">
                  <c:v>5.25</c:v>
                </c:pt>
                <c:pt idx="2">
                  <c:v>4.82</c:v>
                </c:pt>
                <c:pt idx="3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Reconciled ROAS</c:v>
                </c:pt>
              </c:strCache>
            </c:strRef>
          </c:tx>
          <c:spPr>
            <a:solidFill>
              <a:srgbClr val="F5B03A"/>
            </a:solidFill>
          </c:spPr>
          <c:cat>
            <c:strRef>
              <c:f>Sheet1!$A$2:$A$5</c:f>
              <c:strCache>
                <c:ptCount val="4"/>
                <c:pt idx="0">
                  <c:v>Google</c:v>
                </c:pt>
                <c:pt idx="1">
                  <c:v>Instagram</c:v>
                </c:pt>
                <c:pt idx="2">
                  <c:v>Meta</c:v>
                </c:pt>
                <c:pt idx="3">
                  <c:v>YouTube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5.58</c:v>
                </c:pt>
                <c:pt idx="1">
                  <c:v>4.35</c:v>
                </c:pt>
                <c:pt idx="2">
                  <c:v>4.0</c:v>
                </c:pt>
                <c:pt idx="3">
                  <c:v>4.17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ECF1F9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85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A385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ECF1F9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8F9D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Profitability</c:v>
                </c:pt>
              </c:strCache>
            </c:strRef>
          </c:tx>
          <c:spPr>
            <a:solidFill>
              <a:srgbClr val="F5B03A"/>
            </a:solidFill>
          </c:spPr>
          <c:cat>
            <c:strRef>
              <c:f>Sheet1!$A$2:$A$5</c:f>
              <c:strCache>
                <c:ptCount val="4"/>
                <c:pt idx="0">
                  <c:v>Premium Fashion</c:v>
                </c:pt>
                <c:pt idx="1">
                  <c:v>D2C Startup</c:v>
                </c:pt>
                <c:pt idx="2">
                  <c:v>Consumer Electronics</c:v>
                </c:pt>
                <c:pt idx="3">
                  <c:v>Food / Perishable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0.28</c:v>
                </c:pt>
                <c:pt idx="1">
                  <c:v>0.12</c:v>
                </c:pt>
                <c:pt idx="2">
                  <c:v>0.3</c:v>
                </c:pt>
                <c:pt idx="3">
                  <c:v>0.18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2DD4BF"/>
            </a:solidFill>
          </c:spPr>
          <c:cat>
            <c:strRef>
              <c:f>Sheet1!$A$2:$A$5</c:f>
              <c:strCache>
                <c:ptCount val="4"/>
                <c:pt idx="0">
                  <c:v>Premium Fashion</c:v>
                </c:pt>
                <c:pt idx="1">
                  <c:v>D2C Startup</c:v>
                </c:pt>
                <c:pt idx="2">
                  <c:v>Consumer Electronics</c:v>
                </c:pt>
                <c:pt idx="3">
                  <c:v>Food / Perishable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</c:v>
                </c:pt>
                <c:pt idx="1">
                  <c:v>0.32</c:v>
                </c:pt>
                <c:pt idx="2">
                  <c:v>0.08</c:v>
                </c:pt>
                <c:pt idx="3">
                  <c:v>0.12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0A5FA"/>
            </a:solidFill>
          </c:spPr>
          <c:cat>
            <c:strRef>
              <c:f>Sheet1!$A$2:$A$5</c:f>
              <c:strCache>
                <c:ptCount val="4"/>
                <c:pt idx="0">
                  <c:v>Premium Fashion</c:v>
                </c:pt>
                <c:pt idx="1">
                  <c:v>D2C Startup</c:v>
                </c:pt>
                <c:pt idx="2">
                  <c:v>Consumer Electronics</c:v>
                </c:pt>
                <c:pt idx="3">
                  <c:v>Food / Perishable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0.12</c:v>
                </c:pt>
                <c:pt idx="1">
                  <c:v>0.2</c:v>
                </c:pt>
                <c:pt idx="2">
                  <c:v>0.2</c:v>
                </c:pt>
                <c:pt idx="3">
                  <c:v>0.12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Sheet1!$A$2:$A$5</c:f>
              <c:strCache>
                <c:ptCount val="4"/>
                <c:pt idx="0">
                  <c:v>Premium Fashion</c:v>
                </c:pt>
                <c:pt idx="1">
                  <c:v>D2C Startup</c:v>
                </c:pt>
                <c:pt idx="2">
                  <c:v>Consumer Electronics</c:v>
                </c:pt>
                <c:pt idx="3">
                  <c:v>Food / Perishable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0.1</c:v>
                </c:pt>
                <c:pt idx="1">
                  <c:v>0.06</c:v>
                </c:pt>
                <c:pt idx="2">
                  <c:v>0.15</c:v>
                </c:pt>
                <c:pt idx="3">
                  <c:v>0.3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CAC</c:v>
                </c:pt>
              </c:strCache>
            </c:strRef>
          </c:tx>
          <c:spPr>
            <a:solidFill>
              <a:srgbClr val="F87171"/>
            </a:solidFill>
          </c:spPr>
          <c:cat>
            <c:strRef>
              <c:f>Sheet1!$A$2:$A$5</c:f>
              <c:strCache>
                <c:ptCount val="4"/>
                <c:pt idx="0">
                  <c:v>Premium Fashion</c:v>
                </c:pt>
                <c:pt idx="1">
                  <c:v>D2C Startup</c:v>
                </c:pt>
                <c:pt idx="2">
                  <c:v>Consumer Electronics</c:v>
                </c:pt>
                <c:pt idx="3">
                  <c:v>Food / Perishable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0.15</c:v>
                </c:pt>
                <c:pt idx="1">
                  <c:v>0.18</c:v>
                </c:pt>
                <c:pt idx="2">
                  <c:v>0.12</c:v>
                </c:pt>
                <c:pt idx="3">
                  <c:v>0.13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8F9DB8"/>
            </a:solidFill>
          </c:spPr>
          <c:cat>
            <c:strRef>
              <c:f>Sheet1!$A$2:$A$5</c:f>
              <c:strCache>
                <c:ptCount val="4"/>
                <c:pt idx="0">
                  <c:v>Premium Fashion</c:v>
                </c:pt>
                <c:pt idx="1">
                  <c:v>D2C Startup</c:v>
                </c:pt>
                <c:pt idx="2">
                  <c:v>Consumer Electronics</c:v>
                </c:pt>
                <c:pt idx="3">
                  <c:v>Food / Perishable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0.25</c:v>
                </c:pt>
                <c:pt idx="1">
                  <c:v>0.12</c:v>
                </c:pt>
                <c:pt idx="2">
                  <c:v>0.15</c:v>
                </c:pt>
                <c:pt idx="3">
                  <c:v>0.15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85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ECF1F9"/>
              </a:solidFill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8F9D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ln w="38100">
              <a:solidFill>
                <a:srgbClr val="F87171"/>
              </a:solidFill>
            </a:ln>
          </c:spPr>
          <c:marker>
            <c:symbol val="none"/>
          </c:marker>
          <c:cat>
            <c:strRef>
              <c:f>Sheet1!$A$2:$A$46</c:f>
              <c:strCache>
                <c:ptCount val="45"/>
                <c:pt idx="0">
                  <c:v>08-23</c:v>
                </c:pt>
                <c:pt idx="1">
                  <c:v>08-24</c:v>
                </c:pt>
                <c:pt idx="2">
                  <c:v>08-25</c:v>
                </c:pt>
                <c:pt idx="3">
                  <c:v>08-26</c:v>
                </c:pt>
                <c:pt idx="4">
                  <c:v>08-27</c:v>
                </c:pt>
                <c:pt idx="5">
                  <c:v>08-28</c:v>
                </c:pt>
                <c:pt idx="6">
                  <c:v>08-29</c:v>
                </c:pt>
                <c:pt idx="7">
                  <c:v>08-30</c:v>
                </c:pt>
                <c:pt idx="8">
                  <c:v>08-31</c:v>
                </c:pt>
                <c:pt idx="9">
                  <c:v>09-01</c:v>
                </c:pt>
                <c:pt idx="10">
                  <c:v>09-02</c:v>
                </c:pt>
                <c:pt idx="11">
                  <c:v>09-03</c:v>
                </c:pt>
                <c:pt idx="12">
                  <c:v>09-04</c:v>
                </c:pt>
                <c:pt idx="13">
                  <c:v>09-05</c:v>
                </c:pt>
                <c:pt idx="14">
                  <c:v>09-06</c:v>
                </c:pt>
                <c:pt idx="15">
                  <c:v>09-07</c:v>
                </c:pt>
                <c:pt idx="16">
                  <c:v>09-08</c:v>
                </c:pt>
                <c:pt idx="17">
                  <c:v>09-09</c:v>
                </c:pt>
                <c:pt idx="18">
                  <c:v>09-10</c:v>
                </c:pt>
                <c:pt idx="19">
                  <c:v>09-11</c:v>
                </c:pt>
                <c:pt idx="20">
                  <c:v>09-12</c:v>
                </c:pt>
                <c:pt idx="21">
                  <c:v>09-13</c:v>
                </c:pt>
                <c:pt idx="22">
                  <c:v>09-14</c:v>
                </c:pt>
                <c:pt idx="23">
                  <c:v>09-15</c:v>
                </c:pt>
                <c:pt idx="24">
                  <c:v>09-16</c:v>
                </c:pt>
                <c:pt idx="25">
                  <c:v>09-17</c:v>
                </c:pt>
                <c:pt idx="26">
                  <c:v>09-18</c:v>
                </c:pt>
                <c:pt idx="27">
                  <c:v>09-19</c:v>
                </c:pt>
                <c:pt idx="28">
                  <c:v>09-20</c:v>
                </c:pt>
                <c:pt idx="29">
                  <c:v>09-21</c:v>
                </c:pt>
                <c:pt idx="30">
                  <c:v>09-22</c:v>
                </c:pt>
                <c:pt idx="31">
                  <c:v>09-23</c:v>
                </c:pt>
                <c:pt idx="32">
                  <c:v>09-24</c:v>
                </c:pt>
                <c:pt idx="33">
                  <c:v>09-25</c:v>
                </c:pt>
                <c:pt idx="34">
                  <c:v>09-26</c:v>
                </c:pt>
                <c:pt idx="35">
                  <c:v>09-27</c:v>
                </c:pt>
                <c:pt idx="36">
                  <c:v>09-28</c:v>
                </c:pt>
                <c:pt idx="37">
                  <c:v>09-29</c:v>
                </c:pt>
                <c:pt idx="38">
                  <c:v>09-30</c:v>
                </c:pt>
                <c:pt idx="39">
                  <c:v>10-01</c:v>
                </c:pt>
                <c:pt idx="40">
                  <c:v>10-02</c:v>
                </c:pt>
                <c:pt idx="41">
                  <c:v>10-03</c:v>
                </c:pt>
                <c:pt idx="42">
                  <c:v>10-04</c:v>
                </c:pt>
                <c:pt idx="43">
                  <c:v>10-05</c:v>
                </c:pt>
                <c:pt idx="44">
                  <c:v>10-06</c:v>
                </c:pt>
              </c:strCache>
            </c: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102.8</c:v>
                </c:pt>
                <c:pt idx="1">
                  <c:v>100.9</c:v>
                </c:pt>
                <c:pt idx="2">
                  <c:v>96.1</c:v>
                </c:pt>
                <c:pt idx="3">
                  <c:v>95.8</c:v>
                </c:pt>
                <c:pt idx="4">
                  <c:v>114.6</c:v>
                </c:pt>
                <c:pt idx="5">
                  <c:v>107.6</c:v>
                </c:pt>
                <c:pt idx="6">
                  <c:v>90.1</c:v>
                </c:pt>
                <c:pt idx="7">
                  <c:v>98.0</c:v>
                </c:pt>
                <c:pt idx="8">
                  <c:v>88.7</c:v>
                </c:pt>
                <c:pt idx="9">
                  <c:v>70.5</c:v>
                </c:pt>
                <c:pt idx="10">
                  <c:v>111.3</c:v>
                </c:pt>
                <c:pt idx="11">
                  <c:v>98.5</c:v>
                </c:pt>
                <c:pt idx="12">
                  <c:v>91.8</c:v>
                </c:pt>
                <c:pt idx="13">
                  <c:v>104.5</c:v>
                </c:pt>
                <c:pt idx="14">
                  <c:v>124.0</c:v>
                </c:pt>
                <c:pt idx="15">
                  <c:v>85.5</c:v>
                </c:pt>
                <c:pt idx="16">
                  <c:v>65.3</c:v>
                </c:pt>
                <c:pt idx="17">
                  <c:v>92.0</c:v>
                </c:pt>
                <c:pt idx="18">
                  <c:v>110.5</c:v>
                </c:pt>
                <c:pt idx="19">
                  <c:v>104.3</c:v>
                </c:pt>
                <c:pt idx="20">
                  <c:v>148.0</c:v>
                </c:pt>
                <c:pt idx="21">
                  <c:v>97.8</c:v>
                </c:pt>
                <c:pt idx="22">
                  <c:v>88.5</c:v>
                </c:pt>
                <c:pt idx="23">
                  <c:v>115.8</c:v>
                </c:pt>
                <c:pt idx="24">
                  <c:v>97.1</c:v>
                </c:pt>
                <c:pt idx="25">
                  <c:v>101.5</c:v>
                </c:pt>
                <c:pt idx="26">
                  <c:v>100.4</c:v>
                </c:pt>
                <c:pt idx="27">
                  <c:v>111.5</c:v>
                </c:pt>
                <c:pt idx="28">
                  <c:v>88.3</c:v>
                </c:pt>
                <c:pt idx="29">
                  <c:v>99.0</c:v>
                </c:pt>
                <c:pt idx="30">
                  <c:v>100.8</c:v>
                </c:pt>
                <c:pt idx="31">
                  <c:v>77.0</c:v>
                </c:pt>
                <c:pt idx="32">
                  <c:v>99.3</c:v>
                </c:pt>
                <c:pt idx="33">
                  <c:v>82.7</c:v>
                </c:pt>
                <c:pt idx="34">
                  <c:v>102.9</c:v>
                </c:pt>
                <c:pt idx="35">
                  <c:v>109.1</c:v>
                </c:pt>
                <c:pt idx="36">
                  <c:v>87.6</c:v>
                </c:pt>
                <c:pt idx="37">
                  <c:v>95.5</c:v>
                </c:pt>
                <c:pt idx="38">
                  <c:v>114.7</c:v>
                </c:pt>
                <c:pt idx="39">
                  <c:v>71.4</c:v>
                </c:pt>
                <c:pt idx="40">
                  <c:v>81.1</c:v>
                </c:pt>
                <c:pt idx="41">
                  <c:v>44.1</c:v>
                </c:pt>
                <c:pt idx="42">
                  <c:v>45.5</c:v>
                </c:pt>
                <c:pt idx="43">
                  <c:v>36.9</c:v>
                </c:pt>
                <c:pt idx="44">
                  <c:v>47.1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CTR</c:v>
                </c:pt>
              </c:strCache>
            </c:strRef>
          </c:tx>
          <c:spPr>
            <a:ln w="28575">
              <a:solidFill>
                <a:srgbClr val="F5B03A"/>
              </a:solidFill>
            </a:ln>
          </c:spPr>
          <c:marker>
            <c:symbol val="none"/>
          </c:marker>
          <c:cat>
            <c:strRef>
              <c:f>Sheet1!$A$2:$A$46</c:f>
              <c:strCache>
                <c:ptCount val="45"/>
                <c:pt idx="0">
                  <c:v>08-23</c:v>
                </c:pt>
                <c:pt idx="1">
                  <c:v>08-24</c:v>
                </c:pt>
                <c:pt idx="2">
                  <c:v>08-25</c:v>
                </c:pt>
                <c:pt idx="3">
                  <c:v>08-26</c:v>
                </c:pt>
                <c:pt idx="4">
                  <c:v>08-27</c:v>
                </c:pt>
                <c:pt idx="5">
                  <c:v>08-28</c:v>
                </c:pt>
                <c:pt idx="6">
                  <c:v>08-29</c:v>
                </c:pt>
                <c:pt idx="7">
                  <c:v>08-30</c:v>
                </c:pt>
                <c:pt idx="8">
                  <c:v>08-31</c:v>
                </c:pt>
                <c:pt idx="9">
                  <c:v>09-01</c:v>
                </c:pt>
                <c:pt idx="10">
                  <c:v>09-02</c:v>
                </c:pt>
                <c:pt idx="11">
                  <c:v>09-03</c:v>
                </c:pt>
                <c:pt idx="12">
                  <c:v>09-04</c:v>
                </c:pt>
                <c:pt idx="13">
                  <c:v>09-05</c:v>
                </c:pt>
                <c:pt idx="14">
                  <c:v>09-06</c:v>
                </c:pt>
                <c:pt idx="15">
                  <c:v>09-07</c:v>
                </c:pt>
                <c:pt idx="16">
                  <c:v>09-08</c:v>
                </c:pt>
                <c:pt idx="17">
                  <c:v>09-09</c:v>
                </c:pt>
                <c:pt idx="18">
                  <c:v>09-10</c:v>
                </c:pt>
                <c:pt idx="19">
                  <c:v>09-11</c:v>
                </c:pt>
                <c:pt idx="20">
                  <c:v>09-12</c:v>
                </c:pt>
                <c:pt idx="21">
                  <c:v>09-13</c:v>
                </c:pt>
                <c:pt idx="22">
                  <c:v>09-14</c:v>
                </c:pt>
                <c:pt idx="23">
                  <c:v>09-15</c:v>
                </c:pt>
                <c:pt idx="24">
                  <c:v>09-16</c:v>
                </c:pt>
                <c:pt idx="25">
                  <c:v>09-17</c:v>
                </c:pt>
                <c:pt idx="26">
                  <c:v>09-18</c:v>
                </c:pt>
                <c:pt idx="27">
                  <c:v>09-19</c:v>
                </c:pt>
                <c:pt idx="28">
                  <c:v>09-20</c:v>
                </c:pt>
                <c:pt idx="29">
                  <c:v>09-21</c:v>
                </c:pt>
                <c:pt idx="30">
                  <c:v>09-22</c:v>
                </c:pt>
                <c:pt idx="31">
                  <c:v>09-23</c:v>
                </c:pt>
                <c:pt idx="32">
                  <c:v>09-24</c:v>
                </c:pt>
                <c:pt idx="33">
                  <c:v>09-25</c:v>
                </c:pt>
                <c:pt idx="34">
                  <c:v>09-26</c:v>
                </c:pt>
                <c:pt idx="35">
                  <c:v>09-27</c:v>
                </c:pt>
                <c:pt idx="36">
                  <c:v>09-28</c:v>
                </c:pt>
                <c:pt idx="37">
                  <c:v>09-29</c:v>
                </c:pt>
                <c:pt idx="38">
                  <c:v>09-30</c:v>
                </c:pt>
                <c:pt idx="39">
                  <c:v>10-01</c:v>
                </c:pt>
                <c:pt idx="40">
                  <c:v>10-02</c:v>
                </c:pt>
                <c:pt idx="41">
                  <c:v>10-03</c:v>
                </c:pt>
                <c:pt idx="42">
                  <c:v>10-04</c:v>
                </c:pt>
                <c:pt idx="43">
                  <c:v>10-05</c:v>
                </c:pt>
                <c:pt idx="44">
                  <c:v>10-06</c:v>
                </c:pt>
              </c:strCache>
            </c:strRef>
          </c:cat>
          <c:val>
            <c:numRef>
              <c:f>Sheet1!$C$2:$C$46</c:f>
              <c:numCache>
                <c:formatCode>General</c:formatCode>
                <c:ptCount val="45"/>
                <c:pt idx="0">
                  <c:v>97.4</c:v>
                </c:pt>
                <c:pt idx="1">
                  <c:v>102.3</c:v>
                </c:pt>
                <c:pt idx="2">
                  <c:v>107.9</c:v>
                </c:pt>
                <c:pt idx="3">
                  <c:v>93.6</c:v>
                </c:pt>
                <c:pt idx="4">
                  <c:v>94.9</c:v>
                </c:pt>
                <c:pt idx="5">
                  <c:v>97.4</c:v>
                </c:pt>
                <c:pt idx="6">
                  <c:v>99.9</c:v>
                </c:pt>
                <c:pt idx="7">
                  <c:v>98.0</c:v>
                </c:pt>
                <c:pt idx="8">
                  <c:v>100.5</c:v>
                </c:pt>
                <c:pt idx="9">
                  <c:v>102.3</c:v>
                </c:pt>
                <c:pt idx="10">
                  <c:v>105.4</c:v>
                </c:pt>
                <c:pt idx="11">
                  <c:v>97.4</c:v>
                </c:pt>
                <c:pt idx="12">
                  <c:v>103.0</c:v>
                </c:pt>
                <c:pt idx="13">
                  <c:v>102.3</c:v>
                </c:pt>
                <c:pt idx="14">
                  <c:v>106.7</c:v>
                </c:pt>
                <c:pt idx="15">
                  <c:v>98.6</c:v>
                </c:pt>
                <c:pt idx="16">
                  <c:v>98.6</c:v>
                </c:pt>
                <c:pt idx="17">
                  <c:v>99.2</c:v>
                </c:pt>
                <c:pt idx="18">
                  <c:v>98.6</c:v>
                </c:pt>
                <c:pt idx="19">
                  <c:v>101.7</c:v>
                </c:pt>
                <c:pt idx="20">
                  <c:v>103.0</c:v>
                </c:pt>
                <c:pt idx="21">
                  <c:v>99.2</c:v>
                </c:pt>
                <c:pt idx="22">
                  <c:v>98.6</c:v>
                </c:pt>
                <c:pt idx="23">
                  <c:v>100.5</c:v>
                </c:pt>
                <c:pt idx="24">
                  <c:v>93.0</c:v>
                </c:pt>
                <c:pt idx="25">
                  <c:v>105.4</c:v>
                </c:pt>
                <c:pt idx="26">
                  <c:v>94.9</c:v>
                </c:pt>
                <c:pt idx="27">
                  <c:v>104.2</c:v>
                </c:pt>
                <c:pt idx="28">
                  <c:v>96.1</c:v>
                </c:pt>
                <c:pt idx="29">
                  <c:v>96.8</c:v>
                </c:pt>
                <c:pt idx="30">
                  <c:v>94.3</c:v>
                </c:pt>
                <c:pt idx="31">
                  <c:v>99.9</c:v>
                </c:pt>
                <c:pt idx="32">
                  <c:v>99.2</c:v>
                </c:pt>
                <c:pt idx="33">
                  <c:v>93.0</c:v>
                </c:pt>
                <c:pt idx="34">
                  <c:v>101.1</c:v>
                </c:pt>
                <c:pt idx="35">
                  <c:v>101.7</c:v>
                </c:pt>
                <c:pt idx="36">
                  <c:v>93.0</c:v>
                </c:pt>
                <c:pt idx="37">
                  <c:v>95.5</c:v>
                </c:pt>
                <c:pt idx="38">
                  <c:v>94.9</c:v>
                </c:pt>
                <c:pt idx="39">
                  <c:v>77.5</c:v>
                </c:pt>
                <c:pt idx="40">
                  <c:v>63.9</c:v>
                </c:pt>
                <c:pt idx="41">
                  <c:v>48.4</c:v>
                </c:pt>
                <c:pt idx="42">
                  <c:v>49.0</c:v>
                </c:pt>
                <c:pt idx="43">
                  <c:v>46.5</c:v>
                </c:pt>
                <c:pt idx="44">
                  <c:v>49.6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CPC</c:v>
                </c:pt>
              </c:strCache>
            </c:strRef>
          </c:tx>
          <c:spPr>
            <a:ln w="28575">
              <a:solidFill>
                <a:srgbClr val="60A5FA"/>
              </a:solidFill>
            </a:ln>
          </c:spPr>
          <c:marker>
            <c:symbol val="none"/>
          </c:marker>
          <c:cat>
            <c:strRef>
              <c:f>Sheet1!$A$2:$A$46</c:f>
              <c:strCache>
                <c:ptCount val="45"/>
                <c:pt idx="0">
                  <c:v>08-23</c:v>
                </c:pt>
                <c:pt idx="1">
                  <c:v>08-24</c:v>
                </c:pt>
                <c:pt idx="2">
                  <c:v>08-25</c:v>
                </c:pt>
                <c:pt idx="3">
                  <c:v>08-26</c:v>
                </c:pt>
                <c:pt idx="4">
                  <c:v>08-27</c:v>
                </c:pt>
                <c:pt idx="5">
                  <c:v>08-28</c:v>
                </c:pt>
                <c:pt idx="6">
                  <c:v>08-29</c:v>
                </c:pt>
                <c:pt idx="7">
                  <c:v>08-30</c:v>
                </c:pt>
                <c:pt idx="8">
                  <c:v>08-31</c:v>
                </c:pt>
                <c:pt idx="9">
                  <c:v>09-01</c:v>
                </c:pt>
                <c:pt idx="10">
                  <c:v>09-02</c:v>
                </c:pt>
                <c:pt idx="11">
                  <c:v>09-03</c:v>
                </c:pt>
                <c:pt idx="12">
                  <c:v>09-04</c:v>
                </c:pt>
                <c:pt idx="13">
                  <c:v>09-05</c:v>
                </c:pt>
                <c:pt idx="14">
                  <c:v>09-06</c:v>
                </c:pt>
                <c:pt idx="15">
                  <c:v>09-07</c:v>
                </c:pt>
                <c:pt idx="16">
                  <c:v>09-08</c:v>
                </c:pt>
                <c:pt idx="17">
                  <c:v>09-09</c:v>
                </c:pt>
                <c:pt idx="18">
                  <c:v>09-10</c:v>
                </c:pt>
                <c:pt idx="19">
                  <c:v>09-11</c:v>
                </c:pt>
                <c:pt idx="20">
                  <c:v>09-12</c:v>
                </c:pt>
                <c:pt idx="21">
                  <c:v>09-13</c:v>
                </c:pt>
                <c:pt idx="22">
                  <c:v>09-14</c:v>
                </c:pt>
                <c:pt idx="23">
                  <c:v>09-15</c:v>
                </c:pt>
                <c:pt idx="24">
                  <c:v>09-16</c:v>
                </c:pt>
                <c:pt idx="25">
                  <c:v>09-17</c:v>
                </c:pt>
                <c:pt idx="26">
                  <c:v>09-18</c:v>
                </c:pt>
                <c:pt idx="27">
                  <c:v>09-19</c:v>
                </c:pt>
                <c:pt idx="28">
                  <c:v>09-20</c:v>
                </c:pt>
                <c:pt idx="29">
                  <c:v>09-21</c:v>
                </c:pt>
                <c:pt idx="30">
                  <c:v>09-22</c:v>
                </c:pt>
                <c:pt idx="31">
                  <c:v>09-23</c:v>
                </c:pt>
                <c:pt idx="32">
                  <c:v>09-24</c:v>
                </c:pt>
                <c:pt idx="33">
                  <c:v>09-25</c:v>
                </c:pt>
                <c:pt idx="34">
                  <c:v>09-26</c:v>
                </c:pt>
                <c:pt idx="35">
                  <c:v>09-27</c:v>
                </c:pt>
                <c:pt idx="36">
                  <c:v>09-28</c:v>
                </c:pt>
                <c:pt idx="37">
                  <c:v>09-29</c:v>
                </c:pt>
                <c:pt idx="38">
                  <c:v>09-30</c:v>
                </c:pt>
                <c:pt idx="39">
                  <c:v>10-01</c:v>
                </c:pt>
                <c:pt idx="40">
                  <c:v>10-02</c:v>
                </c:pt>
                <c:pt idx="41">
                  <c:v>10-03</c:v>
                </c:pt>
                <c:pt idx="42">
                  <c:v>10-04</c:v>
                </c:pt>
                <c:pt idx="43">
                  <c:v>10-05</c:v>
                </c:pt>
                <c:pt idx="44">
                  <c:v>10-06</c:v>
                </c:pt>
              </c:strCache>
            </c:strRef>
          </c:cat>
          <c:val>
            <c:numRef>
              <c:f>Sheet1!$D$2:$D$46</c:f>
              <c:numCache>
                <c:formatCode>General</c:formatCode>
                <c:ptCount val="45"/>
                <c:pt idx="0">
                  <c:v>96.6</c:v>
                </c:pt>
                <c:pt idx="1">
                  <c:v>95.8</c:v>
                </c:pt>
                <c:pt idx="2">
                  <c:v>94.9</c:v>
                </c:pt>
                <c:pt idx="3">
                  <c:v>87.9</c:v>
                </c:pt>
                <c:pt idx="4">
                  <c:v>104.8</c:v>
                </c:pt>
                <c:pt idx="5">
                  <c:v>96.7</c:v>
                </c:pt>
                <c:pt idx="6">
                  <c:v>116.0</c:v>
                </c:pt>
                <c:pt idx="7">
                  <c:v>112.8</c:v>
                </c:pt>
                <c:pt idx="8">
                  <c:v>111.8</c:v>
                </c:pt>
                <c:pt idx="9">
                  <c:v>107.8</c:v>
                </c:pt>
                <c:pt idx="10">
                  <c:v>87.5</c:v>
                </c:pt>
                <c:pt idx="11">
                  <c:v>98.3</c:v>
                </c:pt>
                <c:pt idx="12">
                  <c:v>99.0</c:v>
                </c:pt>
                <c:pt idx="13">
                  <c:v>94.2</c:v>
                </c:pt>
                <c:pt idx="14">
                  <c:v>96.9</c:v>
                </c:pt>
                <c:pt idx="15">
                  <c:v>108.2</c:v>
                </c:pt>
                <c:pt idx="16">
                  <c:v>104.8</c:v>
                </c:pt>
                <c:pt idx="17">
                  <c:v>101.5</c:v>
                </c:pt>
                <c:pt idx="18">
                  <c:v>90.4</c:v>
                </c:pt>
                <c:pt idx="19">
                  <c:v>102.3</c:v>
                </c:pt>
                <c:pt idx="20">
                  <c:v>91.8</c:v>
                </c:pt>
                <c:pt idx="21">
                  <c:v>105.4</c:v>
                </c:pt>
                <c:pt idx="22">
                  <c:v>97.3</c:v>
                </c:pt>
                <c:pt idx="23">
                  <c:v>97.6</c:v>
                </c:pt>
                <c:pt idx="24">
                  <c:v>99.8</c:v>
                </c:pt>
                <c:pt idx="25">
                  <c:v>99.0</c:v>
                </c:pt>
                <c:pt idx="26">
                  <c:v>103.3</c:v>
                </c:pt>
                <c:pt idx="27">
                  <c:v>98.6</c:v>
                </c:pt>
                <c:pt idx="28">
                  <c:v>103.7</c:v>
                </c:pt>
                <c:pt idx="29">
                  <c:v>108.3</c:v>
                </c:pt>
                <c:pt idx="30">
                  <c:v>86.9</c:v>
                </c:pt>
                <c:pt idx="31">
                  <c:v>107.5</c:v>
                </c:pt>
                <c:pt idx="32">
                  <c:v>89.7</c:v>
                </c:pt>
                <c:pt idx="33">
                  <c:v>104.7</c:v>
                </c:pt>
                <c:pt idx="34">
                  <c:v>103.0</c:v>
                </c:pt>
                <c:pt idx="35">
                  <c:v>100.3</c:v>
                </c:pt>
                <c:pt idx="36">
                  <c:v>113.3</c:v>
                </c:pt>
                <c:pt idx="37">
                  <c:v>99.3</c:v>
                </c:pt>
                <c:pt idx="38">
                  <c:v>90.6</c:v>
                </c:pt>
                <c:pt idx="39">
                  <c:v>141.7</c:v>
                </c:pt>
                <c:pt idx="40">
                  <c:v>146.6</c:v>
                </c:pt>
                <c:pt idx="41">
                  <c:v>225.0</c:v>
                </c:pt>
                <c:pt idx="42">
                  <c:v>212.0</c:v>
                </c:pt>
                <c:pt idx="43">
                  <c:v>247.3</c:v>
                </c:pt>
                <c:pt idx="44">
                  <c:v>230.9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Conversion rate</c:v>
                </c:pt>
              </c:strCache>
            </c:strRef>
          </c:tx>
          <c:spPr>
            <a:ln w="19050">
              <a:solidFill>
                <a:srgbClr val="8F9DB8"/>
              </a:solidFill>
            </a:ln>
          </c:spPr>
          <c:marker>
            <c:symbol val="none"/>
          </c:marker>
          <c:cat>
            <c:strRef>
              <c:f>Sheet1!$A$2:$A$46</c:f>
              <c:strCache>
                <c:ptCount val="45"/>
                <c:pt idx="0">
                  <c:v>08-23</c:v>
                </c:pt>
                <c:pt idx="1">
                  <c:v>08-24</c:v>
                </c:pt>
                <c:pt idx="2">
                  <c:v>08-25</c:v>
                </c:pt>
                <c:pt idx="3">
                  <c:v>08-26</c:v>
                </c:pt>
                <c:pt idx="4">
                  <c:v>08-27</c:v>
                </c:pt>
                <c:pt idx="5">
                  <c:v>08-28</c:v>
                </c:pt>
                <c:pt idx="6">
                  <c:v>08-29</c:v>
                </c:pt>
                <c:pt idx="7">
                  <c:v>08-30</c:v>
                </c:pt>
                <c:pt idx="8">
                  <c:v>08-31</c:v>
                </c:pt>
                <c:pt idx="9">
                  <c:v>09-01</c:v>
                </c:pt>
                <c:pt idx="10">
                  <c:v>09-02</c:v>
                </c:pt>
                <c:pt idx="11">
                  <c:v>09-03</c:v>
                </c:pt>
                <c:pt idx="12">
                  <c:v>09-04</c:v>
                </c:pt>
                <c:pt idx="13">
                  <c:v>09-05</c:v>
                </c:pt>
                <c:pt idx="14">
                  <c:v>09-06</c:v>
                </c:pt>
                <c:pt idx="15">
                  <c:v>09-07</c:v>
                </c:pt>
                <c:pt idx="16">
                  <c:v>09-08</c:v>
                </c:pt>
                <c:pt idx="17">
                  <c:v>09-09</c:v>
                </c:pt>
                <c:pt idx="18">
                  <c:v>09-10</c:v>
                </c:pt>
                <c:pt idx="19">
                  <c:v>09-11</c:v>
                </c:pt>
                <c:pt idx="20">
                  <c:v>09-12</c:v>
                </c:pt>
                <c:pt idx="21">
                  <c:v>09-13</c:v>
                </c:pt>
                <c:pt idx="22">
                  <c:v>09-14</c:v>
                </c:pt>
                <c:pt idx="23">
                  <c:v>09-15</c:v>
                </c:pt>
                <c:pt idx="24">
                  <c:v>09-16</c:v>
                </c:pt>
                <c:pt idx="25">
                  <c:v>09-17</c:v>
                </c:pt>
                <c:pt idx="26">
                  <c:v>09-18</c:v>
                </c:pt>
                <c:pt idx="27">
                  <c:v>09-19</c:v>
                </c:pt>
                <c:pt idx="28">
                  <c:v>09-20</c:v>
                </c:pt>
                <c:pt idx="29">
                  <c:v>09-21</c:v>
                </c:pt>
                <c:pt idx="30">
                  <c:v>09-22</c:v>
                </c:pt>
                <c:pt idx="31">
                  <c:v>09-23</c:v>
                </c:pt>
                <c:pt idx="32">
                  <c:v>09-24</c:v>
                </c:pt>
                <c:pt idx="33">
                  <c:v>09-25</c:v>
                </c:pt>
                <c:pt idx="34">
                  <c:v>09-26</c:v>
                </c:pt>
                <c:pt idx="35">
                  <c:v>09-27</c:v>
                </c:pt>
                <c:pt idx="36">
                  <c:v>09-28</c:v>
                </c:pt>
                <c:pt idx="37">
                  <c:v>09-29</c:v>
                </c:pt>
                <c:pt idx="38">
                  <c:v>09-30</c:v>
                </c:pt>
                <c:pt idx="39">
                  <c:v>10-01</c:v>
                </c:pt>
                <c:pt idx="40">
                  <c:v>10-02</c:v>
                </c:pt>
                <c:pt idx="41">
                  <c:v>10-03</c:v>
                </c:pt>
                <c:pt idx="42">
                  <c:v>10-04</c:v>
                </c:pt>
                <c:pt idx="43">
                  <c:v>10-05</c:v>
                </c:pt>
                <c:pt idx="44">
                  <c:v>10-06</c:v>
                </c:pt>
              </c:strCache>
            </c:strRef>
          </c:cat>
          <c:val>
            <c:numRef>
              <c:f>Sheet1!$E$2:$E$46</c:f>
              <c:numCache>
                <c:formatCode>General</c:formatCode>
                <c:ptCount val="45"/>
                <c:pt idx="0">
                  <c:v>100.3</c:v>
                </c:pt>
                <c:pt idx="1">
                  <c:v>97.1</c:v>
                </c:pt>
                <c:pt idx="2">
                  <c:v>91.7</c:v>
                </c:pt>
                <c:pt idx="3">
                  <c:v>84.6</c:v>
                </c:pt>
                <c:pt idx="4">
                  <c:v>120.7</c:v>
                </c:pt>
                <c:pt idx="5">
                  <c:v>105.0</c:v>
                </c:pt>
                <c:pt idx="6">
                  <c:v>105.0</c:v>
                </c:pt>
                <c:pt idx="7">
                  <c:v>111.3</c:v>
                </c:pt>
                <c:pt idx="8">
                  <c:v>99.5</c:v>
                </c:pt>
                <c:pt idx="9">
                  <c:v>76.8</c:v>
                </c:pt>
                <c:pt idx="10">
                  <c:v>97.9</c:v>
                </c:pt>
                <c:pt idx="11">
                  <c:v>97.1</c:v>
                </c:pt>
                <c:pt idx="12">
                  <c:v>91.7</c:v>
                </c:pt>
                <c:pt idx="13">
                  <c:v>98.7</c:v>
                </c:pt>
                <c:pt idx="14">
                  <c:v>120.7</c:v>
                </c:pt>
                <c:pt idx="15">
                  <c:v>93.2</c:v>
                </c:pt>
                <c:pt idx="16">
                  <c:v>68.9</c:v>
                </c:pt>
                <c:pt idx="17">
                  <c:v>94.0</c:v>
                </c:pt>
                <c:pt idx="18">
                  <c:v>100.3</c:v>
                </c:pt>
                <c:pt idx="19">
                  <c:v>107.3</c:v>
                </c:pt>
                <c:pt idx="20">
                  <c:v>137.1</c:v>
                </c:pt>
                <c:pt idx="21">
                  <c:v>103.4</c:v>
                </c:pt>
                <c:pt idx="22">
                  <c:v>87.0</c:v>
                </c:pt>
                <c:pt idx="23">
                  <c:v>113.6</c:v>
                </c:pt>
                <c:pt idx="24">
                  <c:v>97.1</c:v>
                </c:pt>
                <c:pt idx="25">
                  <c:v>101.1</c:v>
                </c:pt>
                <c:pt idx="26">
                  <c:v>104.2</c:v>
                </c:pt>
                <c:pt idx="27">
                  <c:v>110.5</c:v>
                </c:pt>
                <c:pt idx="28">
                  <c:v>91.7</c:v>
                </c:pt>
                <c:pt idx="29">
                  <c:v>108.1</c:v>
                </c:pt>
                <c:pt idx="30">
                  <c:v>87.7</c:v>
                </c:pt>
                <c:pt idx="31">
                  <c:v>83.0</c:v>
                </c:pt>
                <c:pt idx="32">
                  <c:v>89.3</c:v>
                </c:pt>
                <c:pt idx="33">
                  <c:v>87.0</c:v>
                </c:pt>
                <c:pt idx="34">
                  <c:v>106.5</c:v>
                </c:pt>
                <c:pt idx="35">
                  <c:v>110.5</c:v>
                </c:pt>
                <c:pt idx="36">
                  <c:v>99.5</c:v>
                </c:pt>
                <c:pt idx="37">
                  <c:v>95.6</c:v>
                </c:pt>
                <c:pt idx="38">
                  <c:v>104.2</c:v>
                </c:pt>
                <c:pt idx="39">
                  <c:v>101.8</c:v>
                </c:pt>
                <c:pt idx="40">
                  <c:v>119.9</c:v>
                </c:pt>
                <c:pt idx="41">
                  <c:v>99.5</c:v>
                </c:pt>
                <c:pt idx="42">
                  <c:v>97.1</c:v>
                </c:pt>
                <c:pt idx="43">
                  <c:v>91.7</c:v>
                </c:pt>
                <c:pt idx="44">
                  <c:v>109.7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2A385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A385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ECF1F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8F9D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₹/day</c:v>
                </c:pt>
              </c:strCache>
            </c:strRef>
          </c:tx>
          <c:spPr>
            <a:solidFill>
              <a:srgbClr val="2A3856"/>
            </a:solidFill>
          </c:spPr>
          <c:cat>
            <c:strRef>
              <c:f>Sheet1!$A$2:$A$13</c:f>
              <c:strCache>
                <c:ptCount val="12"/>
                <c:pt idx="0">
                  <c:v>Linen Blazer Meta LAL</c:v>
                </c:pt>
                <c:pt idx="1">
                  <c:v>Linen Blazer Google RT</c:v>
                </c:pt>
                <c:pt idx="2">
                  <c:v>Silk Scarf Google Interest</c:v>
                </c:pt>
                <c:pt idx="3">
                  <c:v>Silk Scarf Instagram LAL</c:v>
                </c:pt>
                <c:pt idx="4">
                  <c:v>Selvedge Denim Meta Broad</c:v>
                </c:pt>
                <c:pt idx="5">
                  <c:v>Selvedge Denim Google RT</c:v>
                </c:pt>
                <c:pt idx="6">
                  <c:v>Evening Dress Instagram LAL</c:v>
                </c:pt>
                <c:pt idx="7">
                  <c:v>Evening Dress YouTube Broad</c:v>
                </c:pt>
                <c:pt idx="8">
                  <c:v>Leather Tote Meta RT</c:v>
                </c:pt>
                <c:pt idx="9">
                  <c:v>Leather Tote Google Interest</c:v>
                </c:pt>
                <c:pt idx="10">
                  <c:v>Court Sneaker Meta Broad</c:v>
                </c:pt>
                <c:pt idx="11">
                  <c:v>Court Sneaker Instagram LAL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40000.0</c:v>
                </c:pt>
                <c:pt idx="1">
                  <c:v>14000.0</c:v>
                </c:pt>
                <c:pt idx="2">
                  <c:v>22000.0</c:v>
                </c:pt>
                <c:pt idx="3">
                  <c:v>12000.0</c:v>
                </c:pt>
                <c:pt idx="4">
                  <c:v>26000.0</c:v>
                </c:pt>
                <c:pt idx="5">
                  <c:v>9000.0</c:v>
                </c:pt>
                <c:pt idx="6">
                  <c:v>24000.0</c:v>
                </c:pt>
                <c:pt idx="7">
                  <c:v>10000.0</c:v>
                </c:pt>
                <c:pt idx="8">
                  <c:v>12000.0</c:v>
                </c:pt>
                <c:pt idx="9">
                  <c:v>18000.0</c:v>
                </c:pt>
                <c:pt idx="10">
                  <c:v>16000.0</c:v>
                </c:pt>
                <c:pt idx="11">
                  <c:v>10000.0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Recommended ₹/day</c:v>
                </c:pt>
              </c:strCache>
            </c:strRef>
          </c:tx>
          <c:spPr>
            <a:solidFill>
              <a:srgbClr val="F5B03A"/>
            </a:solidFill>
          </c:spPr>
          <c:cat>
            <c:strRef>
              <c:f>Sheet1!$A$2:$A$13</c:f>
              <c:strCache>
                <c:ptCount val="12"/>
                <c:pt idx="0">
                  <c:v>Linen Blazer Meta LAL</c:v>
                </c:pt>
                <c:pt idx="1">
                  <c:v>Linen Blazer Google RT</c:v>
                </c:pt>
                <c:pt idx="2">
                  <c:v>Silk Scarf Google Interest</c:v>
                </c:pt>
                <c:pt idx="3">
                  <c:v>Silk Scarf Instagram LAL</c:v>
                </c:pt>
                <c:pt idx="4">
                  <c:v>Selvedge Denim Meta Broad</c:v>
                </c:pt>
                <c:pt idx="5">
                  <c:v>Selvedge Denim Google RT</c:v>
                </c:pt>
                <c:pt idx="6">
                  <c:v>Evening Dress Instagram LAL</c:v>
                </c:pt>
                <c:pt idx="7">
                  <c:v>Evening Dress YouTube Broad</c:v>
                </c:pt>
                <c:pt idx="8">
                  <c:v>Leather Tote Meta RT</c:v>
                </c:pt>
                <c:pt idx="9">
                  <c:v>Leather Tote Google Interest</c:v>
                </c:pt>
                <c:pt idx="10">
                  <c:v>Court Sneaker Meta Broad</c:v>
                </c:pt>
                <c:pt idx="11">
                  <c:v>Court Sneaker Instagram LAL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28000.0</c:v>
                </c:pt>
                <c:pt idx="1">
                  <c:v>21000.0</c:v>
                </c:pt>
                <c:pt idx="2">
                  <c:v>44000.0</c:v>
                </c:pt>
                <c:pt idx="3">
                  <c:v>12000.0</c:v>
                </c:pt>
                <c:pt idx="4">
                  <c:v>19000.0</c:v>
                </c:pt>
                <c:pt idx="5">
                  <c:v>11000.0</c:v>
                </c:pt>
                <c:pt idx="6">
                  <c:v>18000.0</c:v>
                </c:pt>
                <c:pt idx="7">
                  <c:v>7000.0</c:v>
                </c:pt>
                <c:pt idx="8">
                  <c:v>12000.0</c:v>
                </c:pt>
                <c:pt idx="9">
                  <c:v>18000.0</c:v>
                </c:pt>
                <c:pt idx="10">
                  <c:v>16000.0</c:v>
                </c:pt>
                <c:pt idx="11">
                  <c:v>7000.0</c:v>
                </c:pt>
              </c:numCache>
            </c:numRef>
          </c:val>
        </c:ser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856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2A385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ECF1F9"/>
              </a:solidFill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8F9D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Ad spend is decided in four dashboards that disagree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D2C brands spend crores on ads across platforms — and still allocate the next rupee by gut feel.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B03A"/>
                </a:solidFill>
                <a:latin typeface="Segoe UI"/>
              </a:rPr>
              <a:t>Autonomous Marketing CFO</a:t>
            </a:r>
          </a:p>
          <a:p>
            <a:pPr algn="l"/>
            <a:r>
              <a:rPr sz="1300" b="0" i="0">
                <a:solidFill>
                  <a:srgbClr val="8F9DB8"/>
                </a:solidFill>
                <a:latin typeface="Segoe UI"/>
              </a:rPr>
              <a:t>Next-generation autonomous D2C advertising intelligence &amp; decision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46120"/>
            <a:ext cx="1371600" cy="155448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246120"/>
            <a:ext cx="1371600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Meta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CF1F9"/>
                </a:solidFill>
                <a:latin typeface="Segoe UI"/>
              </a:rPr>
              <a:t>4.8×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15968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8"/>
                </a:solidFill>
                <a:latin typeface="Segoe UI"/>
              </a:rPr>
              <a:t>reported ROAS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5688" y="3246120"/>
            <a:ext cx="1371600" cy="155448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75688" y="3246120"/>
            <a:ext cx="137160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3429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Segoe UI"/>
              </a:rPr>
              <a:t>Google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3749039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CF1F9"/>
                </a:solidFill>
                <a:latin typeface="Segoe UI"/>
              </a:rPr>
              <a:t>6.7×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4315968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8"/>
                </a:solidFill>
                <a:latin typeface="Segoe UI"/>
              </a:rPr>
              <a:t>reported ROAS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7016" y="3246120"/>
            <a:ext cx="1371600" cy="155448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7016" y="3246120"/>
            <a:ext cx="137160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3429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Segoe UI"/>
              </a:rPr>
              <a:t>Instagram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3749039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CF1F9"/>
                </a:solidFill>
                <a:latin typeface="Segoe UI"/>
              </a:rPr>
              <a:t>5.2×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4315968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8"/>
                </a:solidFill>
                <a:latin typeface="Segoe UI"/>
              </a:rPr>
              <a:t>reported ROAS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8344" y="3246120"/>
            <a:ext cx="1371600" cy="155448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8344" y="3246120"/>
            <a:ext cx="1371600" cy="640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5504" y="3429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Segoe UI"/>
              </a:rPr>
              <a:t>YouTube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3749039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CF1F9"/>
                </a:solidFill>
                <a:latin typeface="Segoe UI"/>
              </a:rPr>
              <a:t>5.4×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4315968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8"/>
                </a:solidFill>
                <a:latin typeface="Segoe UI"/>
              </a:rPr>
              <a:t>reported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98348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F1F9"/>
                </a:solidFill>
                <a:latin typeface="Segoe UI"/>
              </a:rPr>
              <a:t>Every platform grades its own homework. Together they claim 21% more orders than the store actually shipped.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1965960"/>
            <a:ext cx="4892040" cy="42062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17627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B03A"/>
                </a:solidFill>
                <a:latin typeface="Segoe UI"/>
              </a:rPr>
              <a:t>What the marketing head actually faces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2752344"/>
            <a:ext cx="91440" cy="420624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2697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4+ ad platforms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971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each with its own attribution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3419856"/>
            <a:ext cx="91440" cy="420624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33649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Margin &amp; inventory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63931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invisible to the ad manager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4087368"/>
            <a:ext cx="91440" cy="420624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403250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Competitor price moves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3068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tank conversion — silently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4754880"/>
            <a:ext cx="91440" cy="420624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470001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One ROAS target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9743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applied to every SKU &amp; company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5422392"/>
            <a:ext cx="91440" cy="420624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53675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No memory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56418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yesterday's decision never scored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02  ·  WHY DASHBOARDS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A dashboard describes the past. A CFO allocates the future.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Five structural gaps no amount of charts can close.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3931920" cy="429768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F9DB8"/>
                </a:solidFill>
                <a:latin typeface="Segoe UI"/>
              </a:rPr>
              <a:t>WHAT THE DASHBOARD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87171"/>
                </a:solidFill>
                <a:latin typeface="Segoe UI"/>
              </a:rPr>
              <a:t>ROAS ↓ 51%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9DB8"/>
                </a:solidFill>
                <a:latin typeface="Segoe UI"/>
              </a:rPr>
              <a:t>Linen Blazer · Meta · Lookalike 1%
6.0 → 3.0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160520"/>
            <a:ext cx="3383280" cy="18288"/>
          </a:xfrm>
          <a:prstGeom prst="rect">
            <a:avLst/>
          </a:prstGeom>
          <a:solidFill>
            <a:srgbClr val="2A3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3383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…and then?</a:t>
            </a:r>
          </a:p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Why did it drop?</a:t>
            </a:r>
          </a:p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How much should move?</a:t>
            </a:r>
          </a:p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To where, given margin and stock?</a:t>
            </a:r>
          </a:p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What if the stock changes?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920240"/>
            <a:ext cx="6812280" cy="75895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1920240"/>
            <a:ext cx="73152" cy="75895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0116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Descriptive, not prescriptive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313432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Charts show what happened. Nobody decides what to do about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2788920"/>
            <a:ext cx="6812280" cy="75895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2788920"/>
            <a:ext cx="73152" cy="758952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8803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Siloed &amp; self-attributed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182112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Each platform over-claims credit; no single version of truth.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3657600"/>
            <a:ext cx="6812280" cy="75895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3657600"/>
            <a:ext cx="73152" cy="7589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749039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Blind to the 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050791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Margin, inventory, competitor price never reach the bid decision.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4526279"/>
            <a:ext cx="6812280" cy="75895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00600" y="4526279"/>
            <a:ext cx="73152" cy="7589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4617719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One-size-fits-all 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919471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A luxury label and a perishable-food brand get the same ROAS goal.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5394960"/>
            <a:ext cx="6812280" cy="75895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0600" y="5394960"/>
            <a:ext cx="73152" cy="7589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54864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CF1F9"/>
                </a:solidFill>
                <a:latin typeface="Segoe UI"/>
              </a:rPr>
              <a:t>Open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5788152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Decisions are never compared to outcomes, so nothing is learned.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03  ·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Where should the next ₹1 of ad spend 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1018520" cy="141732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8F9DB8"/>
                </a:solidFill>
                <a:latin typeface="Segoe UI"/>
              </a:rPr>
              <a:t>“Instead of telling a company </a:t>
            </a:r>
            <a:r>
              <a:rPr sz="2000" b="0" i="1">
                <a:solidFill>
                  <a:srgbClr val="8F9DB8"/>
                </a:solidFill>
                <a:latin typeface="Segoe UI"/>
              </a:rPr>
              <a:t>what happened</a:t>
            </a:r>
            <a:r>
              <a:rPr sz="2000" b="0" i="0">
                <a:solidFill>
                  <a:srgbClr val="8F9DB8"/>
                </a:solidFill>
                <a:latin typeface="Segoe UI"/>
              </a:rPr>
              <a:t>, our AI Marketing CFO </a:t>
            </a:r>
            <a:r>
              <a:rPr sz="2000" b="1" i="0">
                <a:solidFill>
                  <a:srgbClr val="F5B03A"/>
                </a:solidFill>
                <a:latin typeface="Segoe UI"/>
              </a:rPr>
              <a:t>decides where the company's next ₹1 of advertising spend should go.</a:t>
            </a:r>
            <a:r>
              <a:rPr sz="2000" b="0" i="0">
                <a:solidFill>
                  <a:srgbClr val="8F9DB8"/>
                </a:solidFill>
                <a:latin typeface="Segoe UI"/>
              </a:rPr>
              <a:t>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337560"/>
            <a:ext cx="205740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Reconcile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9DB8"/>
                </a:solidFill>
                <a:latin typeface="Segoe UI"/>
              </a:rPr>
              <a:t>One version of the truth across platforms, sales, stock, price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0048" y="4572000"/>
            <a:ext cx="14630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40" y="33375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3337560"/>
            <a:ext cx="2057400" cy="640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3566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840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Diagnose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38912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9DB8"/>
                </a:solidFill>
                <a:latin typeface="Segoe UI"/>
              </a:rPr>
              <a:t>Anomaly → probable cause → confidence → action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10327" y="4572000"/>
            <a:ext cx="14630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74920" y="33375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3337560"/>
            <a:ext cx="2057400" cy="64008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3566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840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38912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9DB8"/>
                </a:solidFill>
                <a:latin typeface="Segoe UI"/>
              </a:rPr>
              <a:t>Maximise expected incremental profit under the company's policy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50608" y="4572000"/>
            <a:ext cx="14630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0" y="33375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3337560"/>
            <a:ext cx="2057400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3566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Segoe U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840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Simulate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38912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9DB8"/>
                </a:solidFill>
                <a:latin typeface="Segoe UI"/>
              </a:rPr>
              <a:t>Change budget, stock, price, priorities — decision re-solves live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4572000"/>
            <a:ext cx="14630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55480" y="33375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55480" y="3337560"/>
            <a:ext cx="205740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566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840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Learn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438912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9DB8"/>
                </a:solidFill>
                <a:latin typeface="Segoe UI"/>
              </a:rPr>
              <a:t>Approve → outcome → error → updated 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F9DB8"/>
                </a:solidFill>
                <a:latin typeface="Segoe UI"/>
              </a:rPr>
              <a:t>A closed-loop decision system — not another reporting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04  ·  UNIFIED CROSS-PLATFORM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One version of the truth, corrected by real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We regress real SKU sales on platform-reported orders:  units = organic baseline + β · platform orders   (β &lt; 1 = over-count haircut)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200400" cy="89611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73152" cy="89611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9397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F1F9"/>
                </a:solidFill>
                <a:latin typeface="Segoe UI"/>
              </a:rPr>
              <a:t>Meta · Google · Instagram · YouTube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688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daily spend, clicks, orders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414015"/>
            <a:ext cx="502920" cy="1197865"/>
          </a:xfrm>
          <a:prstGeom prst="line">
            <a:avLst/>
          </a:prstGeom>
          <a:ln w="22225">
            <a:solidFill>
              <a:srgbClr val="2A38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" y="2990088"/>
            <a:ext cx="3200400" cy="89611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990088"/>
            <a:ext cx="73152" cy="89611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11810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F1F9"/>
                </a:solidFill>
                <a:latin typeface="Segoe UI"/>
              </a:rPr>
              <a:t>Sales 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49300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units, revenue, COGS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3438144"/>
            <a:ext cx="502920" cy="173736"/>
          </a:xfrm>
          <a:prstGeom prst="line">
            <a:avLst/>
          </a:prstGeom>
          <a:ln w="22225">
            <a:solidFill>
              <a:srgbClr val="2A38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4360" y="4014216"/>
            <a:ext cx="3200400" cy="89611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014216"/>
            <a:ext cx="73152" cy="896112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14223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F1F9"/>
                </a:solidFill>
                <a:latin typeface="Segoe UI"/>
              </a:rPr>
              <a:t>Pricing + competitor 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5171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margin, price gap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840480" y="3611880"/>
            <a:ext cx="502920" cy="850392"/>
          </a:xfrm>
          <a:prstGeom prst="line">
            <a:avLst/>
          </a:prstGeom>
          <a:ln w="22225">
            <a:solidFill>
              <a:srgbClr val="2A38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94360" y="5038344"/>
            <a:ext cx="3200400" cy="89611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5038344"/>
            <a:ext cx="73152" cy="89611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16635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F1F9"/>
                </a:solidFill>
                <a:latin typeface="Segoe UI"/>
              </a:rPr>
              <a:t>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54126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on-hand, lead time, shelf life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840480" y="3611880"/>
            <a:ext cx="502920" cy="1874520"/>
          </a:xfrm>
          <a:prstGeom prst="line">
            <a:avLst/>
          </a:prstGeom>
          <a:ln w="22225">
            <a:solidFill>
              <a:srgbClr val="2A38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89120" y="292608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F5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127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B03A"/>
                </a:solidFill>
                <a:latin typeface="Segoe UI"/>
              </a:rPr>
              <a:t>RECONCILE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456432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CF1F9"/>
                </a:solidFill>
                <a:latin typeface="Segoe UI"/>
              </a:rPr>
              <a:t>sklearn regression
per SKU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63640" y="3611880"/>
            <a:ext cx="365760" cy="0"/>
          </a:xfrm>
          <a:prstGeom prst="line">
            <a:avLst/>
          </a:prstGeom>
          <a:ln w="22225">
            <a:solidFill>
              <a:srgbClr val="F5B0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6675120" y="1828800"/>
          <a:ext cx="49377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6675120" y="512064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5248655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87171"/>
                </a:solidFill>
                <a:latin typeface="Segoe UI"/>
              </a:rPr>
              <a:t>21%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8338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more orders claimed than reconciled sales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512064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5248655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B03A"/>
                </a:solidFill>
                <a:latin typeface="Segoe UI"/>
              </a:rPr>
              <a:t>5.5 → 4.6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583387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company ROAS: reported → reconciled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0807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Output: unified ROAS, CAC, CTR, CPC, CVR, profit, margin, inventory days, stockout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05  ·  BUSINESS POLICY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Same campaign. Different company. Different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Each company's objectives, margins, inventory, CAC, ROAS and risk appetite become a policy the optimizer must obey.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5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874519"/>
          <a:ext cx="53949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46817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F9DB8"/>
                </a:solidFill>
                <a:latin typeface="Segoe UI"/>
              </a:rPr>
              <a:t>OBJECTIVE WEIGHTS ABOVE · GUARDRAILS BELOW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956048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5B03A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02920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B03A"/>
                </a:solidFill>
                <a:latin typeface="Segoe UI"/>
              </a:rPr>
              <a:t>Fashion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502920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B03A"/>
                </a:solidFill>
                <a:latin typeface="Segoe UI"/>
              </a:rPr>
              <a:t>Startup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502920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B03A"/>
                </a:solidFill>
                <a:latin typeface="Segoe UI"/>
              </a:rPr>
              <a:t>Electr.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502920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B03A"/>
                </a:solidFill>
                <a:latin typeface="Segoe UI"/>
              </a:rPr>
              <a:t>Food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8980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8"/>
                </a:solidFill>
                <a:latin typeface="Segoe UI"/>
              </a:rPr>
              <a:t>Min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28980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528980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528980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528980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5040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8"/>
                </a:solidFill>
                <a:latin typeface="Segoe UI"/>
              </a:rPr>
              <a:t>Min ROAS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55040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3.0×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555040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1.8×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555040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5.0×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55040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3.0×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1101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8"/>
                </a:solidFill>
                <a:latin typeface="Segoe UI"/>
              </a:rPr>
              <a:t>Max CAC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811012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₹2,200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811012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₹450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40" y="5811012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₹1,200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811012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₹160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71616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8"/>
                </a:solidFill>
                <a:latin typeface="Segoe UI"/>
              </a:rPr>
              <a:t>Stock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607161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30 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607161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45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607161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40 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607161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CF1F9"/>
                </a:solidFill>
                <a:latin typeface="Segoe UI"/>
              </a:rPr>
              <a:t>10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1874519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F9DB8"/>
                </a:solidFill>
                <a:latin typeface="Segoe UI"/>
              </a:rPr>
              <a:t>ONE FASHION CAMPAIGN SET · FOUR POLICIES · DAILY BUDGET CHANGE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1945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B03A"/>
                </a:solidFill>
                <a:latin typeface="Segoe UI"/>
              </a:rPr>
              <a:t>Fashion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21945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B03A"/>
                </a:solidFill>
                <a:latin typeface="Segoe UI"/>
              </a:rPr>
              <a:t>Startup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12096" y="21945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B03A"/>
                </a:solidFill>
                <a:latin typeface="Segoe UI"/>
              </a:rPr>
              <a:t>Electr.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53344" y="21945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B03A"/>
                </a:solidFill>
                <a:latin typeface="Segoe UI"/>
              </a:rPr>
              <a:t>Food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2578608"/>
            <a:ext cx="5303520" cy="62179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660903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CF1F9"/>
                </a:solidFill>
                <a:latin typeface="Segoe UI"/>
              </a:rPr>
              <a:t>Linen Blazer·Google·RT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47888" y="2734056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2DD4BF"/>
                </a:solidFill>
                <a:latin typeface="Segoe UI"/>
              </a:rPr>
              <a:t>+₹7k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89136" y="2734056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8F9DB8"/>
                </a:solidFill>
                <a:latin typeface="Segoe UI"/>
              </a:rPr>
              <a:t>hold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30384" y="2734056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8F9DB8"/>
                </a:solidFill>
                <a:latin typeface="Segoe UI"/>
              </a:rPr>
              <a:t>hold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71632" y="2734056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2DD4BF"/>
                </a:solidFill>
                <a:latin typeface="Segoe UI"/>
              </a:rPr>
              <a:t>+₹5k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3291839"/>
            <a:ext cx="5303520" cy="62179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3374135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CF1F9"/>
                </a:solidFill>
                <a:latin typeface="Segoe UI"/>
              </a:rPr>
              <a:t>Silk Scarf·Instagram·LAL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47888" y="3447287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8F9DB8"/>
                </a:solidFill>
                <a:latin typeface="Segoe UI"/>
              </a:rPr>
              <a:t>hold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89136" y="3447287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2DD4BF"/>
                </a:solidFill>
                <a:latin typeface="Segoe UI"/>
              </a:rPr>
              <a:t>+₹9k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0384" y="3447287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8F9DB8"/>
                </a:solidFill>
                <a:latin typeface="Segoe UI"/>
              </a:rPr>
              <a:t>hold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71632" y="3447287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8F9DB8"/>
                </a:solidFill>
                <a:latin typeface="Segoe UI"/>
              </a:rPr>
              <a:t>hold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4005072"/>
            <a:ext cx="5303520" cy="62179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408736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CF1F9"/>
                </a:solidFill>
                <a:latin typeface="Segoe UI"/>
              </a:rPr>
              <a:t>Selvedge Denim·Meta·Broad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47888" y="4160520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87171"/>
                </a:solidFill>
                <a:latin typeface="Segoe UI"/>
              </a:rPr>
              <a:t>−₹7k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89136" y="4160520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87171"/>
                </a:solidFill>
                <a:latin typeface="Segoe UI"/>
              </a:rPr>
              <a:t>−₹7k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30384" y="4160520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87171"/>
                </a:solidFill>
                <a:latin typeface="Segoe UI"/>
              </a:rPr>
              <a:t>PAUSE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771632" y="4160520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87171"/>
                </a:solidFill>
                <a:latin typeface="Segoe UI"/>
              </a:rPr>
              <a:t>−₹7k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4718304"/>
            <a:ext cx="5303520" cy="621792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8006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CF1F9"/>
                </a:solidFill>
                <a:latin typeface="Segoe UI"/>
              </a:rPr>
              <a:t>Leather Tote·Meta·RT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47888" y="4873752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8F9DB8"/>
                </a:solidFill>
                <a:latin typeface="Segoe UI"/>
              </a:rPr>
              <a:t>hold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89136" y="4873752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87171"/>
                </a:solidFill>
                <a:latin typeface="Segoe UI"/>
              </a:rPr>
              <a:t>−₹3k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30384" y="4873752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8F9DB8"/>
                </a:solidFill>
                <a:latin typeface="Segoe UI"/>
              </a:rPr>
              <a:t>hold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771632" y="4873752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8F9DB8"/>
                </a:solidFill>
                <a:latin typeface="Segoe UI"/>
              </a:rPr>
              <a:t>hold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5577840"/>
            <a:ext cx="5303520" cy="749808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565099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87171"/>
                </a:solidFill>
                <a:latin typeface="Segoe UI"/>
              </a:rPr>
              <a:t>Electronics' 5.0× ROAS bar </a:t>
            </a:r>
            <a:r>
              <a:rPr sz="1150" b="0" i="0">
                <a:solidFill>
                  <a:srgbClr val="ECF1F9"/>
                </a:solidFill>
                <a:latin typeface="Segoe UI"/>
              </a:rPr>
              <a:t>pauses Denim·Meta outright; </a:t>
            </a:r>
            <a:r>
              <a:rPr sz="1150" b="1" i="0">
                <a:solidFill>
                  <a:srgbClr val="2DD4BF"/>
                </a:solidFill>
                <a:latin typeface="Segoe UI"/>
              </a:rPr>
              <a:t>the Startup's growth weight </a:t>
            </a:r>
            <a:r>
              <a:rPr sz="1150" b="0" i="0">
                <a:solidFill>
                  <a:srgbClr val="ECF1F9"/>
                </a:solidFill>
                <a:latin typeface="Segoe UI"/>
              </a:rPr>
              <a:t>keeps funding prospecting. Same data, different CFO.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06  ·  AI DIAGNOSIS &amp;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Not just “ROAS dropped” — why, how sure, and what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Live demo anomaly: Linen Blazer · Meta · Lookalike 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6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828800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440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9DB8"/>
                </a:solidFill>
                <a:latin typeface="Segoe UI"/>
              </a:rPr>
              <a:t>Indexed to the 25-day baseline = 100 (last 45 days)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806440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87171"/>
                </a:solidFill>
                <a:latin typeface="Segoe UI"/>
              </a:rPr>
              <a:t>CTR -48%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1992" y="5806440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87171"/>
                </a:solidFill>
                <a:latin typeface="Segoe UI"/>
              </a:rPr>
              <a:t>CPC +111%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9624" y="5806440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8F9DB8"/>
                </a:solidFill>
                <a:latin typeface="Segoe UI"/>
              </a:rPr>
              <a:t>Conversion +4%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7256" y="5806440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5B03A"/>
                </a:solidFill>
                <a:latin typeface="Segoe UI"/>
              </a:rPr>
              <a:t>Frequency +155%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28800"/>
            <a:ext cx="4343400" cy="44348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0116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87171"/>
                </a:solidFill>
                <a:latin typeface="Segoe UI"/>
              </a:rPr>
              <a:t>WHAT HAPPENED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258568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CF1F9"/>
                </a:solidFill>
                <a:latin typeface="Segoe UI"/>
              </a:rPr>
              <a:t>ROAS fell 51% (from 6.00 to 2.96). CTR dropped 48% and CPC rose 111% while conversion rate held (+4%). Frequency is up 155% on a 49-day-old creative.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03580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5B03A"/>
                </a:solidFill>
                <a:latin typeface="Segoe UI"/>
              </a:rPr>
              <a:t>PROBABLE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282696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F1F9"/>
                </a:solidFill>
                <a:latin typeface="Segoe UI"/>
              </a:rPr>
              <a:t>Creative fatigue (audience has seen the ad too often)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05993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DD4BF"/>
                </a:solidFill>
                <a:latin typeface="Segoe UI"/>
              </a:rPr>
              <a:t>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306824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F1F9"/>
                </a:solidFill>
                <a:latin typeface="Segoe UI"/>
              </a:rPr>
              <a:t>95%  —  CTR collapse + frequency surge + flat conversion + 49-day-old creative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084064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0A5FA"/>
                </a:solidFill>
                <a:latin typeface="Segoe UI"/>
              </a:rPr>
              <a:t>RECOMMENDED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330952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CF1F9"/>
                </a:solidFill>
                <a:latin typeface="Segoe UI"/>
              </a:rPr>
              <a:t>Replace the creative and pull budget toward higher-marginal-return campaigns until it recovers.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9436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F9DB8"/>
                </a:solidFill>
                <a:latin typeface="Segoe UI"/>
              </a:rPr>
              <a:t>Rival hypotheses are scored too — fatigue beats auction pressure and post-click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07  ·  BUDGET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Move ₹12,000/day — and it earns ₹28,513/day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Maximise expected incremental profit, tilted by company policy, inside hard guardrails (min ROAS, max CAC, min margin, safe stock).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7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874519"/>
          <a:ext cx="667512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52360" y="1874519"/>
            <a:ext cx="4160520" cy="178308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F5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0116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5B03A"/>
                </a:solidFill>
                <a:latin typeface="Segoe UI"/>
              </a:rPr>
              <a:t>TOP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₹12,000/day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85292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F9DB8"/>
                </a:solidFill>
                <a:latin typeface="Segoe UI"/>
              </a:rPr>
              <a:t>Linen Blazer·Meta·LAL</a:t>
            </a:r>
          </a:p>
          <a:p>
            <a:pPr algn="l"/>
            <a:r>
              <a:rPr sz="1150" b="0" i="0">
                <a:solidFill>
                  <a:srgbClr val="8F9DB8"/>
                </a:solidFill>
                <a:latin typeface="Segoe UI"/>
              </a:rPr>
              <a:t>→ Silk Scarf·Google·Interest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79476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922776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87171"/>
                </a:solidFill>
                <a:latin typeface="Segoe UI"/>
              </a:rPr>
              <a:t>2.1×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07992"/>
            <a:ext cx="16459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marginal ROAS, fatigued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379476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3922776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D4BF"/>
                </a:solidFill>
                <a:latin typeface="Segoe UI"/>
              </a:rPr>
              <a:t>5.7×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507992"/>
            <a:ext cx="16459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marginal ROAS,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5029200"/>
            <a:ext cx="4160520" cy="12801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51206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F9DB8"/>
                </a:solidFill>
                <a:latin typeface="Segoe UI"/>
              </a:rPr>
              <a:t>WHY THIS BEAT THE ALTERNATIVES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39496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CF1F9"/>
                </a:solidFill>
                <a:latin typeface="Segoe UI"/>
              </a:rPr>
              <a:t>• 67% unit margin, 32 days of stock cover</a:t>
            </a:r>
          </a:p>
          <a:p>
            <a:pPr algn="l"/>
            <a:r>
              <a:rPr sz="1050" b="0" i="0">
                <a:solidFill>
                  <a:srgbClr val="ECF1F9"/>
                </a:solidFill>
                <a:latin typeface="Segoe UI"/>
              </a:rPr>
              <a:t>• Fashion policy: profitability 28%, risk 25%</a:t>
            </a:r>
          </a:p>
          <a:p>
            <a:pPr algn="l"/>
            <a:r>
              <a:rPr sz="1050" b="0" i="0">
                <a:solidFill>
                  <a:srgbClr val="ECF1F9"/>
                </a:solidFill>
                <a:latin typeface="Segoe UI"/>
              </a:rPr>
              <a:t>• Plan total: +₹84,751/day at the same total spend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08  ·  WHAT-IF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Change the business. The decision re-solves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Scenario: a supplier delay leaves only 200 Silk Scarves in stock (from 2,300).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5029200" cy="32918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02920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BEFORE  ·  stock healthy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CF1F9"/>
                </a:solidFill>
                <a:latin typeface="Segoe UI"/>
              </a:rPr>
              <a:t>Move ₹12,000/day
Linen Blazer·Meta·LAL
→ Silk Scarf·Google·Interest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9DB8"/>
                </a:solidFill>
                <a:latin typeface="Segoe UI"/>
              </a:rPr>
              <a:t>Scarf has 32 days of cover; scaling it is safe.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DD4BF"/>
                </a:solidFill>
                <a:latin typeface="Segoe UI"/>
              </a:rPr>
              <a:t>+₹28,513/day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3566160"/>
            <a:ext cx="640080" cy="0"/>
          </a:xfrm>
          <a:prstGeom prst="line">
            <a:avLst/>
          </a:prstGeom>
          <a:ln w="38100">
            <a:solidFill>
              <a:srgbClr val="F5B0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96128" y="30632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0A101E"/>
                </a:solidFill>
                <a:latin typeface="Segoe UI"/>
              </a:rPr>
              <a:t>RE-SOLVE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1920240"/>
            <a:ext cx="5074920" cy="32918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920240"/>
            <a:ext cx="5074920" cy="640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19456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Segoe UI"/>
              </a:rPr>
              <a:t>AFTER  ·  stock 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514600"/>
            <a:ext cx="4526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CF1F9"/>
                </a:solidFill>
                <a:latin typeface="Segoe UI"/>
              </a:rPr>
              <a:t>Move ₹6,000/day
Linen Blazer·Meta·LAL
→ Selvedge Denim·Google·RT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657600"/>
            <a:ext cx="4526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9DB8"/>
                </a:solidFill>
                <a:latin typeface="Segoe UI"/>
              </a:rPr>
              <a:t>Scarf has 2.8 days of cover vs an 18-day restock — scaling would stock 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434840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B03A"/>
                </a:solidFill>
                <a:latin typeface="Segoe UI"/>
              </a:rPr>
              <a:t>+₹6,591/day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F9DB8"/>
                </a:solidFill>
                <a:latin typeface="Segoe UI"/>
              </a:rPr>
              <a:t>LEVERS YOU CAN PULL LIVE IN THE SIMULATOR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76072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ECF1F9"/>
                </a:solidFill>
                <a:latin typeface="Segoe UI"/>
              </a:rPr>
              <a:t>Total budget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50591" y="576072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ECF1F9"/>
                </a:solidFill>
                <a:latin typeface="Segoe UI"/>
              </a:rPr>
              <a:t>Inventory (per SKU)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576072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ECF1F9"/>
                </a:solidFill>
                <a:latin typeface="Segoe UI"/>
              </a:rPr>
              <a:t>Price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576072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ECF1F9"/>
                </a:solidFill>
                <a:latin typeface="Segoe UI"/>
              </a:rPr>
              <a:t>Unit cost / margin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9288" y="576072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ECF1F9"/>
                </a:solidFill>
                <a:latin typeface="Segoe UI"/>
              </a:rPr>
              <a:t>Company priorities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5519" y="576072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ECF1F9"/>
                </a:solidFill>
                <a:latin typeface="Segoe UI"/>
              </a:rPr>
              <a:t>Guardrails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09  ·  CLOSED-LOOP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Every approved decision is scored against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prediction → action → actual outcome → error → updated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011680"/>
            <a:ext cx="2011680" cy="64008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5B03A"/>
                </a:solidFill>
                <a:latin typeface="Segoe UI"/>
              </a:rPr>
              <a:t>01  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+₹28,513/day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24328" y="2880360"/>
            <a:ext cx="19202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201168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2011680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240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Segoe UI"/>
              </a:rPr>
              <a:t>02 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9748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Approved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64608" y="2880360"/>
            <a:ext cx="19202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201168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2011680"/>
            <a:ext cx="201168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240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03  OBSERVE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69748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+₹24,952/day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04888" y="2880360"/>
            <a:ext cx="19202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0" y="201168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2011680"/>
            <a:ext cx="2011680" cy="640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240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Segoe UI"/>
              </a:rPr>
              <a:t>04  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69748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-12.5%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5168" y="2880360"/>
            <a:ext cx="19202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555480" y="201168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55480" y="2011680"/>
            <a:ext cx="201168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240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egoe UI"/>
              </a:rPr>
              <a:t>05  RECALIBRATE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69748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CF1F9"/>
                </a:solidFill>
                <a:latin typeface="Segoe UI"/>
              </a:rPr>
              <a:t>92% → 91%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247120" y="3840480"/>
            <a:ext cx="0" cy="320040"/>
          </a:xfrm>
          <a:prstGeom prst="line">
            <a:avLst/>
          </a:prstGeom>
          <a:ln w="22225">
            <a:solidFill>
              <a:srgbClr val="A78B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14400" y="4160520"/>
            <a:ext cx="10332720" cy="0"/>
          </a:xfrm>
          <a:prstGeom prst="line">
            <a:avLst/>
          </a:prstGeom>
          <a:ln w="22225">
            <a:solidFill>
              <a:srgbClr val="A78B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14400" y="3840480"/>
            <a:ext cx="0" cy="320040"/>
          </a:xfrm>
          <a:prstGeom prst="line">
            <a:avLst/>
          </a:prstGeom>
          <a:ln w="22225">
            <a:solidFill>
              <a:srgbClr val="A78B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754880" y="3995928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0A10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feeds the next recommendation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57200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6817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F9DB8"/>
                </a:solidFill>
                <a:latin typeface="Segoe UI"/>
              </a:rPr>
              <a:t>WHAT IS STORED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98348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F1F9"/>
                </a:solidFill>
                <a:latin typeface="Segoe UI"/>
              </a:rPr>
              <a:t>• recommendation + policy + confidence</a:t>
            </a:r>
          </a:p>
          <a:p>
            <a:pPr algn="l"/>
            <a:r>
              <a:rPr sz="1150" b="0" i="0">
                <a:solidFill>
                  <a:srgbClr val="ECF1F9"/>
                </a:solidFill>
                <a:latin typeface="Segoe UI"/>
              </a:rPr>
              <a:t>• simulated outcome and signed error</a:t>
            </a:r>
          </a:p>
          <a:p>
            <a:pPr algn="l"/>
            <a:r>
              <a:rPr sz="1150" b="0" i="0">
                <a:solidFill>
                  <a:srgbClr val="ECF1F9"/>
                </a:solidFill>
                <a:latin typeface="Segoe UI"/>
              </a:rPr>
              <a:t>• per-type calibration (EMA of 1 − |error|)</a:t>
            </a:r>
          </a:p>
          <a:p>
            <a:pPr algn="l"/>
            <a:r>
              <a:rPr sz="1150" b="0" i="0">
                <a:solidFill>
                  <a:srgbClr val="ECF1F9"/>
                </a:solidFill>
                <a:latin typeface="Segoe UI"/>
              </a:rPr>
              <a:t>• seeded history: 24 past decisions across 4 companies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5720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6817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F9DB8"/>
                </a:solidFill>
                <a:latin typeface="Segoe UI"/>
              </a:rPr>
              <a:t>WHY IT MATTERS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98348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CF1F9"/>
                </a:solidFill>
                <a:latin typeface="Segoe UI"/>
              </a:rPr>
              <a:t>Confidence is earned, not asserted. Move-budget calls that over-promised get discounted next time; reliable action types gain trust — so the CFO gets calibrated, not just confident.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10  ·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Data in, explainable decisions out — fully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73152" cy="14630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Segoe U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6888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Synthetic generator · SQLite
14 tables · 4 companies · 60 days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36391" y="2651760"/>
            <a:ext cx="173737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7560" y="19202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920240"/>
            <a:ext cx="73152" cy="14630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1" y="20574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Segoe UI"/>
              </a:rPr>
              <a:t>Ingest &amp; reconcile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246888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pandas · scikit-learn
sales ↔ platform regression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9592" y="2651760"/>
            <a:ext cx="173736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9202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920240"/>
            <a:ext cx="73152" cy="14630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0574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Segoe UI"/>
              </a:rPr>
              <a:t>AI diagnosis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46888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robust z-scores + hypothesis scoring
confidence per cause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1188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611880"/>
            <a:ext cx="73152" cy="14630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749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egoe UI"/>
              </a:rPr>
              <a:t>Policy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16052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6 weights + 4 guardrails
per company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36391" y="4343400"/>
            <a:ext cx="173737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37560" y="361188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611880"/>
            <a:ext cx="73152" cy="146304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1" y="3749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B03A"/>
                </a:solidFill>
                <a:latin typeface="Segoe UI"/>
              </a:rPr>
              <a:t>Optimizer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1" y="416052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concave marginal-utility greedy
elasticity fit · stock caps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79592" y="4343400"/>
            <a:ext cx="173736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80760" y="361188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3611880"/>
            <a:ext cx="73152" cy="14630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3749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Segoe UI"/>
              </a:rPr>
              <a:t>What-if &amp;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16052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9DB8"/>
                </a:solidFill>
                <a:latin typeface="Segoe UI"/>
              </a:rPr>
              <a:t>re-solve on any override
simulated outcome · calibration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1920240"/>
            <a:ext cx="2697480" cy="315468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F5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2057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5B03A"/>
                </a:solidFill>
                <a:latin typeface="Segoe UI"/>
              </a:rPr>
              <a:t>FASTAPI  /api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24231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CF1F9"/>
                </a:solidFill>
                <a:latin typeface="Segoe UI"/>
              </a:rPr>
              <a:t>/overview  /diagnosis</a:t>
            </a:r>
          </a:p>
          <a:p>
            <a:pPr algn="l"/>
            <a:r>
              <a:rPr sz="1100" b="0" i="0">
                <a:solidFill>
                  <a:srgbClr val="ECF1F9"/>
                </a:solidFill>
                <a:latin typeface="Segoe UI"/>
              </a:rPr>
              <a:t>/plan  /whatif</a:t>
            </a:r>
          </a:p>
          <a:p>
            <a:pPr algn="l"/>
            <a:r>
              <a:rPr sz="1100" b="0" i="0">
                <a:solidFill>
                  <a:srgbClr val="ECF1F9"/>
                </a:solidFill>
                <a:latin typeface="Segoe UI"/>
              </a:rPr>
              <a:t>/policy-compare</a:t>
            </a:r>
          </a:p>
          <a:p>
            <a:pPr algn="l"/>
            <a:r>
              <a:rPr sz="1100" b="0" i="0">
                <a:solidFill>
                  <a:srgbClr val="ECF1F9"/>
                </a:solidFill>
                <a:latin typeface="Segoe UI"/>
              </a:rPr>
              <a:t>/recommendations/decide</a:t>
            </a:r>
          </a:p>
          <a:p>
            <a:pPr algn="l"/>
            <a:r>
              <a:rPr sz="1100" b="0" i="0">
                <a:solidFill>
                  <a:srgbClr val="ECF1F9"/>
                </a:solidFill>
                <a:latin typeface="Segoe UI"/>
              </a:rPr>
              <a:t>/history  /demo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794760"/>
            <a:ext cx="2331720" cy="1143000"/>
          </a:xfrm>
          <a:prstGeom prst="roundRect">
            <a:avLst>
              <a:gd name="adj" fmla="val 6000"/>
            </a:avLst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8862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REACT + VITE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18795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CF1F9"/>
                </a:solidFill>
                <a:latin typeface="Segoe UI"/>
              </a:rPr>
              <a:t>Recharts dashboard
7 decision views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22792" y="4480560"/>
            <a:ext cx="283464" cy="0"/>
          </a:xfrm>
          <a:prstGeom prst="line">
            <a:avLst/>
          </a:prstGeom>
          <a:ln w="22225">
            <a:solidFill>
              <a:srgbClr val="F5B0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94360" y="5394960"/>
            <a:ext cx="11018520" cy="8229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50468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B03A"/>
                </a:solidFill>
                <a:latin typeface="Segoe UI"/>
              </a:rPr>
              <a:t>Explainability by construction: </a:t>
            </a:r>
            <a:r>
              <a:rPr sz="1200" b="0" i="0">
                <a:solidFill>
                  <a:srgbClr val="ECF1F9"/>
                </a:solidFill>
                <a:latin typeface="Segoe UI"/>
              </a:rPr>
              <a:t>every recommendation carries its why, policy drivers, guardrail checks and confidence — and every figure is a deterministic function of the data and the policy.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11  ·  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The demo,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data → diagnosis → decision → what-if → feedback — one deterministic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011680" cy="32918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201168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Segoe UI"/>
              </a:rPr>
              <a:t>1 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6916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720 daily ad rows reconciled; platforms over-claim 21%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24328" y="3429000"/>
            <a:ext cx="19202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1783080"/>
            <a:ext cx="2011680" cy="32918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783080"/>
            <a:ext cx="2011680" cy="640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011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Segoe UI"/>
              </a:rPr>
              <a:t>2  DIAGNOSIS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514600"/>
            <a:ext cx="16916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Linen Blazer · Meta ROAS 6.0→3.0. Creative fatigue, 95% confident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64608" y="3429000"/>
            <a:ext cx="19202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1783080"/>
            <a:ext cx="2011680" cy="32918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783080"/>
            <a:ext cx="2011680" cy="64008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011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B03A"/>
                </a:solidFill>
                <a:latin typeface="Segoe UI"/>
              </a:rPr>
              <a:t>3 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514600"/>
            <a:ext cx="16916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Move ₹12,000/day to Silk Scarf · Google. +₹28,513/day, with the why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04888" y="3429000"/>
            <a:ext cx="19202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0" y="1783080"/>
            <a:ext cx="2011680" cy="32918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1783080"/>
            <a:ext cx="2011680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011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4  WHAT-IF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514600"/>
            <a:ext cx="16916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Scarf stock → 200 units. Decision flips to Selvedge Denim·Google·RT (₹6,000)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5168" y="3429000"/>
            <a:ext cx="192024" cy="0"/>
          </a:xfrm>
          <a:prstGeom prst="line">
            <a:avLst/>
          </a:prstGeom>
          <a:ln w="22225">
            <a:solidFill>
              <a:srgbClr val="8F9D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555480" y="1783080"/>
            <a:ext cx="2011680" cy="32918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55480" y="1783080"/>
            <a:ext cx="201168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011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Segoe UI"/>
              </a:rPr>
              <a:t>5 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514600"/>
            <a:ext cx="16916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F1F9"/>
                </a:solidFill>
                <a:latin typeface="Segoe UI"/>
              </a:rPr>
              <a:t>Approve → outcome ₹24,952 vs ₹28,513 predicted; confidence 92%→91%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303520"/>
            <a:ext cx="11018520" cy="91440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F5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422392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5B03A"/>
                </a:solidFill>
                <a:latin typeface="Segoe UI"/>
              </a:rPr>
              <a:t>Run it:  </a:t>
            </a:r>
            <a:r>
              <a:rPr sz="1250" b="0" i="0">
                <a:solidFill>
                  <a:srgbClr val="ECF1F9"/>
                </a:solidFill>
                <a:latin typeface="Segoe UI"/>
              </a:rPr>
              <a:t>open the app → </a:t>
            </a:r>
            <a:r>
              <a:rPr sz="1250" b="1" i="0">
                <a:solidFill>
                  <a:srgbClr val="ECF1F9"/>
                </a:solidFill>
                <a:latin typeface="Segoe UI"/>
              </a:rPr>
              <a:t>Guided Demo</a:t>
            </a:r>
            <a:r>
              <a:rPr sz="1250" b="0" i="0">
                <a:solidFill>
                  <a:srgbClr val="ECF1F9"/>
                </a:solidFill>
                <a:latin typeface="Segoe UI"/>
              </a:rPr>
              <a:t> tab. Deterministic — the same numbers every run. Then switch company in the header to see a different policy decide the same moment.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03A"/>
                </a:solidFill>
                <a:latin typeface="Segoe UI"/>
              </a:rPr>
              <a:t>12  ·  IMPACT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CF1F9"/>
                </a:solidFill>
                <a:latin typeface="Segoe UI"/>
              </a:rPr>
              <a:t>From reporting to deciding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9DB8"/>
                </a:solidFill>
                <a:latin typeface="Segoe UI"/>
              </a:rPr>
              <a:t>Modelled on synthetic data for Premium Fashion at ₹2.13 L/day — same total spend, smarter allocation.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9DB8"/>
                </a:solidFill>
                <a:latin typeface="Segoe UI"/>
              </a:rPr>
              <a:t>AegisOne · Autonomous Marketing CFO · DataQuest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9DB8"/>
                </a:solidFill>
                <a:latin typeface="Segoe UI"/>
              </a:rPr>
              <a:t>12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3566160" cy="12801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48256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B03A"/>
                </a:solidFill>
                <a:latin typeface="Segoe UI"/>
              </a:rPr>
              <a:t>+₹84,751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320040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incremental profit per day identified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566160" cy="12801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48256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D4BF"/>
                </a:solidFill>
                <a:latin typeface="Segoe UI"/>
              </a:rPr>
              <a:t>≈ ₹25.4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33472"/>
            <a:ext cx="320040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per 30 days — with ₹0 extra ad budget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2024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04825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  <a:latin typeface="Segoe UI"/>
              </a:rPr>
              <a:t>7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33472"/>
            <a:ext cx="324612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each with a why, confidence and guardrail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B03A"/>
                </a:solidFill>
                <a:latin typeface="Segoe UI"/>
              </a:rPr>
              <a:t>Cross-platform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5020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reconciled attribution, one ROAS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4136" y="342900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35661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B03A"/>
                </a:solidFill>
                <a:latin typeface="Segoe UI"/>
              </a:rPr>
              <a:t>Policy-aware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016" y="395020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4 companies → 4 different CFOs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342900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5661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B03A"/>
                </a:solidFill>
                <a:latin typeface="Segoe UI"/>
              </a:rPr>
              <a:t>Explainable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95020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anomaly → cause → confidence →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8" y="342900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12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6568" y="35661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B03A"/>
                </a:solidFill>
                <a:latin typeface="Segoe UI"/>
              </a:rPr>
              <a:t>Self-correcting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395020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F9DB8"/>
                </a:solidFill>
                <a:latin typeface="Segoe UI"/>
              </a:rPr>
              <a:t>feedback recalibrates confidence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892040"/>
            <a:ext cx="11018520" cy="132588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F5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CF1F9"/>
                </a:solidFill>
                <a:latin typeface="Segoe UI"/>
              </a:rPr>
              <a:t>“Instead of telling a company what happened, our AI Marketing CFO decides where the next ₹1 of advertising spend should go.”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F9DB8"/>
                </a:solidFill>
                <a:latin typeface="Segoe UI"/>
              </a:rPr>
              <a:t>Next: live ad-API connectors · multi-touch &amp; incrementality tests · bandit exploration · creative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