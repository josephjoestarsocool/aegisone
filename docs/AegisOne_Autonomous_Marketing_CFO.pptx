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Platform-reported ROAS</c:v>
                </c:pt>
              </c:strCache>
            </c:strRef>
          </c:tx>
          <c:spPr>
            <a:solidFill>
              <a:srgbClr val="8F9DB8"/>
            </a:solidFill>
          </c:spPr>
          <c:cat>
            <c:strRef>
              <c:f>Sheet1!$A$2:$A$5</c:f>
              <c:strCache>
                <c:ptCount val="4"/>
                <c:pt idx="0">
                  <c:v>Google</c:v>
                </c:pt>
                <c:pt idx="1">
                  <c:v>Instagram</c:v>
                </c:pt>
                <c:pt idx="2">
                  <c:v>Meta</c:v>
                </c:pt>
                <c:pt idx="3">
                  <c:v>YouTube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7.96</c:v>
                </c:pt>
                <c:pt idx="1">
                  <c:v>6.17</c:v>
                </c:pt>
                <c:pt idx="2">
                  <c:v>5.76</c:v>
                </c:pt>
                <c:pt idx="3">
                  <c:v>6.54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Reconciled ROAS</c:v>
                </c:pt>
              </c:strCache>
            </c:strRef>
          </c:tx>
          <c:spPr>
            <a:solidFill>
              <a:srgbClr val="F5B03A"/>
            </a:solidFill>
          </c:spPr>
          <c:cat>
            <c:strRef>
              <c:f>Sheet1!$A$2:$A$5</c:f>
              <c:strCache>
                <c:ptCount val="4"/>
                <c:pt idx="0">
                  <c:v>Google</c:v>
                </c:pt>
                <c:pt idx="1">
                  <c:v>Instagram</c:v>
                </c:pt>
                <c:pt idx="2">
                  <c:v>Meta</c:v>
                </c:pt>
                <c:pt idx="3">
                  <c:v>YouTube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7.04</c:v>
                </c:pt>
                <c:pt idx="1">
                  <c:v>4.68</c:v>
                </c:pt>
                <c:pt idx="2">
                  <c:v>5.11</c:v>
                </c:pt>
                <c:pt idx="3">
                  <c:v>4.7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>
                  <a:solidFill>
                    <a:srgbClr val="ECF1F9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A385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2A3856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ECF1F9"/>
              </a:solidFill>
            </a:defRPr>
          </a:pPr>
        </a:p>
      </c:txPr>
    </c:legend>
    <c:dispBlanksAs val="gap"/>
  </c:chart>
  <c:txPr>
    <a:bodyPr/>
    <a:lstStyle/>
    <a:p>
      <a:pPr>
        <a:defRPr sz="1000">
          <a:solidFill>
            <a:srgbClr val="8F9DB8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Profitability</c:v>
                </c:pt>
              </c:strCache>
            </c:strRef>
          </c:tx>
          <c:spPr>
            <a:solidFill>
              <a:srgbClr val="F5B03A"/>
            </a:solidFill>
          </c:spPr>
          <c:cat>
            <c:strRef>
              <c:f>Sheet1!$A$2:$A$6</c:f>
              <c:strCache>
                <c:ptCount val="5"/>
                <c:pt idx="0">
                  <c:v>Nike</c:v>
                </c:pt>
                <c:pt idx="1">
                  <c:v>Samsung</c:v>
                </c:pt>
                <c:pt idx="2">
                  <c:v>Lenovo</c:v>
                </c:pt>
                <c:pt idx="3">
                  <c:v>Louis Vuitton</c:v>
                </c:pt>
                <c:pt idx="4">
                  <c:v>Supreme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0.24</c:v>
                </c:pt>
                <c:pt idx="1">
                  <c:v>0.27</c:v>
                </c:pt>
                <c:pt idx="2">
                  <c:v>0.34</c:v>
                </c:pt>
                <c:pt idx="3">
                  <c:v>0.3</c:v>
                </c:pt>
                <c:pt idx="4">
                  <c:v>0.24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Growth</c:v>
                </c:pt>
              </c:strCache>
            </c:strRef>
          </c:tx>
          <c:spPr>
            <a:solidFill>
              <a:srgbClr val="2DD4BF"/>
            </a:solidFill>
          </c:spPr>
          <c:cat>
            <c:strRef>
              <c:f>Sheet1!$A$2:$A$6</c:f>
              <c:strCache>
                <c:ptCount val="5"/>
                <c:pt idx="0">
                  <c:v>Nike</c:v>
                </c:pt>
                <c:pt idx="1">
                  <c:v>Samsung</c:v>
                </c:pt>
                <c:pt idx="2">
                  <c:v>Lenovo</c:v>
                </c:pt>
                <c:pt idx="3">
                  <c:v>Louis Vuitton</c:v>
                </c:pt>
                <c:pt idx="4">
                  <c:v>Supreme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0.24</c:v>
                </c:pt>
                <c:pt idx="1">
                  <c:v>0.08</c:v>
                </c:pt>
                <c:pt idx="2">
                  <c:v>0.06</c:v>
                </c:pt>
                <c:pt idx="3">
                  <c:v>0.04</c:v>
                </c:pt>
                <c:pt idx="4">
                  <c:v>0.14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60A5FA"/>
            </a:solidFill>
          </c:spPr>
          <c:cat>
            <c:strRef>
              <c:f>Sheet1!$A$2:$A$6</c:f>
              <c:strCache>
                <c:ptCount val="5"/>
                <c:pt idx="0">
                  <c:v>Nike</c:v>
                </c:pt>
                <c:pt idx="1">
                  <c:v>Samsung</c:v>
                </c:pt>
                <c:pt idx="2">
                  <c:v>Lenovo</c:v>
                </c:pt>
                <c:pt idx="3">
                  <c:v>Louis Vuitton</c:v>
                </c:pt>
                <c:pt idx="4">
                  <c:v>Supreme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0.16</c:v>
                </c:pt>
                <c:pt idx="1">
                  <c:v>0.15</c:v>
                </c:pt>
                <c:pt idx="2">
                  <c:v>0.14</c:v>
                </c:pt>
                <c:pt idx="3">
                  <c:v>0.1</c:v>
                </c:pt>
                <c:pt idx="4">
                  <c:v>0.1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Inventory</c:v>
                </c:pt>
              </c:strCache>
            </c:strRef>
          </c:tx>
          <c:spPr>
            <a:solidFill>
              <a:srgbClr val="A78BFA"/>
            </a:solidFill>
          </c:spPr>
          <c:cat>
            <c:strRef>
              <c:f>Sheet1!$A$2:$A$6</c:f>
              <c:strCache>
                <c:ptCount val="5"/>
                <c:pt idx="0">
                  <c:v>Nike</c:v>
                </c:pt>
                <c:pt idx="1">
                  <c:v>Samsung</c:v>
                </c:pt>
                <c:pt idx="2">
                  <c:v>Lenovo</c:v>
                </c:pt>
                <c:pt idx="3">
                  <c:v>Louis Vuitton</c:v>
                </c:pt>
                <c:pt idx="4">
                  <c:v>Supreme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0.08</c:v>
                </c:pt>
                <c:pt idx="1">
                  <c:v>0.22</c:v>
                </c:pt>
                <c:pt idx="2">
                  <c:v>0.12</c:v>
                </c:pt>
                <c:pt idx="3">
                  <c:v>0.1</c:v>
                </c:pt>
                <c:pt idx="4">
                  <c:v>0.22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CAC</c:v>
                </c:pt>
              </c:strCache>
            </c:strRef>
          </c:tx>
          <c:spPr>
            <a:solidFill>
              <a:srgbClr val="F87171"/>
            </a:solidFill>
          </c:spPr>
          <c:cat>
            <c:strRef>
              <c:f>Sheet1!$A$2:$A$6</c:f>
              <c:strCache>
                <c:ptCount val="5"/>
                <c:pt idx="0">
                  <c:v>Nike</c:v>
                </c:pt>
                <c:pt idx="1">
                  <c:v>Samsung</c:v>
                </c:pt>
                <c:pt idx="2">
                  <c:v>Lenovo</c:v>
                </c:pt>
                <c:pt idx="3">
                  <c:v>Louis Vuitton</c:v>
                </c:pt>
                <c:pt idx="4">
                  <c:v>Supreme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0.13</c:v>
                </c:pt>
                <c:pt idx="1">
                  <c:v>0.13</c:v>
                </c:pt>
                <c:pt idx="2">
                  <c:v>0.2</c:v>
                </c:pt>
                <c:pt idx="3">
                  <c:v>0.1</c:v>
                </c:pt>
                <c:pt idx="4">
                  <c:v>0.1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Risk</c:v>
                </c:pt>
              </c:strCache>
            </c:strRef>
          </c:tx>
          <c:spPr>
            <a:solidFill>
              <a:srgbClr val="8F9DB8"/>
            </a:solidFill>
          </c:spPr>
          <c:cat>
            <c:strRef>
              <c:f>Sheet1!$A$2:$A$6</c:f>
              <c:strCache>
                <c:ptCount val="5"/>
                <c:pt idx="0">
                  <c:v>Nike</c:v>
                </c:pt>
                <c:pt idx="1">
                  <c:v>Samsung</c:v>
                </c:pt>
                <c:pt idx="2">
                  <c:v>Lenovo</c:v>
                </c:pt>
                <c:pt idx="3">
                  <c:v>Louis Vuitton</c:v>
                </c:pt>
                <c:pt idx="4">
                  <c:v>Supreme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0.15</c:v>
                </c:pt>
                <c:pt idx="1">
                  <c:v>0.15</c:v>
                </c:pt>
                <c:pt idx="2">
                  <c:v>0.14</c:v>
                </c:pt>
                <c:pt idx="3">
                  <c:v>0.36</c:v>
                </c:pt>
                <c:pt idx="4">
                  <c:v>0.2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2A3856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numFmt formatCode="0%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solidFill>
                <a:srgbClr val="ECF1F9"/>
              </a:solidFill>
            </a:defRPr>
          </a:pPr>
        </a:p>
      </c:txPr>
    </c:legend>
    <c:dispBlanksAs val="gap"/>
  </c:chart>
  <c:txPr>
    <a:bodyPr/>
    <a:lstStyle/>
    <a:p>
      <a:pPr>
        <a:defRPr sz="900">
          <a:solidFill>
            <a:srgbClr val="8F9DB8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ROAS</c:v>
                </c:pt>
              </c:strCache>
            </c:strRef>
          </c:tx>
          <c:spPr>
            <a:ln w="38100">
              <a:solidFill>
                <a:srgbClr val="F87171"/>
              </a:solidFill>
            </a:ln>
          </c:spPr>
          <c:marker>
            <c:symbol val="none"/>
          </c:marker>
          <c:cat>
            <c:strRef>
              <c:f>Sheet1!$A$2:$A$46</c:f>
              <c:strCache>
                <c:ptCount val="45"/>
                <c:pt idx="0">
                  <c:v>08-23</c:v>
                </c:pt>
                <c:pt idx="1">
                  <c:v>08-24</c:v>
                </c:pt>
                <c:pt idx="2">
                  <c:v>08-25</c:v>
                </c:pt>
                <c:pt idx="3">
                  <c:v>08-26</c:v>
                </c:pt>
                <c:pt idx="4">
                  <c:v>08-27</c:v>
                </c:pt>
                <c:pt idx="5">
                  <c:v>08-28</c:v>
                </c:pt>
                <c:pt idx="6">
                  <c:v>08-29</c:v>
                </c:pt>
                <c:pt idx="7">
                  <c:v>08-30</c:v>
                </c:pt>
                <c:pt idx="8">
                  <c:v>08-31</c:v>
                </c:pt>
                <c:pt idx="9">
                  <c:v>09-01</c:v>
                </c:pt>
                <c:pt idx="10">
                  <c:v>09-02</c:v>
                </c:pt>
                <c:pt idx="11">
                  <c:v>09-03</c:v>
                </c:pt>
                <c:pt idx="12">
                  <c:v>09-04</c:v>
                </c:pt>
                <c:pt idx="13">
                  <c:v>09-05</c:v>
                </c:pt>
                <c:pt idx="14">
                  <c:v>09-06</c:v>
                </c:pt>
                <c:pt idx="15">
                  <c:v>09-07</c:v>
                </c:pt>
                <c:pt idx="16">
                  <c:v>09-08</c:v>
                </c:pt>
                <c:pt idx="17">
                  <c:v>09-09</c:v>
                </c:pt>
                <c:pt idx="18">
                  <c:v>09-10</c:v>
                </c:pt>
                <c:pt idx="19">
                  <c:v>09-11</c:v>
                </c:pt>
                <c:pt idx="20">
                  <c:v>09-12</c:v>
                </c:pt>
                <c:pt idx="21">
                  <c:v>09-13</c:v>
                </c:pt>
                <c:pt idx="22">
                  <c:v>09-14</c:v>
                </c:pt>
                <c:pt idx="23">
                  <c:v>09-15</c:v>
                </c:pt>
                <c:pt idx="24">
                  <c:v>09-16</c:v>
                </c:pt>
                <c:pt idx="25">
                  <c:v>09-17</c:v>
                </c:pt>
                <c:pt idx="26">
                  <c:v>09-18</c:v>
                </c:pt>
                <c:pt idx="27">
                  <c:v>09-19</c:v>
                </c:pt>
                <c:pt idx="28">
                  <c:v>09-20</c:v>
                </c:pt>
                <c:pt idx="29">
                  <c:v>09-21</c:v>
                </c:pt>
                <c:pt idx="30">
                  <c:v>09-22</c:v>
                </c:pt>
                <c:pt idx="31">
                  <c:v>09-23</c:v>
                </c:pt>
                <c:pt idx="32">
                  <c:v>09-24</c:v>
                </c:pt>
                <c:pt idx="33">
                  <c:v>09-25</c:v>
                </c:pt>
                <c:pt idx="34">
                  <c:v>09-26</c:v>
                </c:pt>
                <c:pt idx="35">
                  <c:v>09-27</c:v>
                </c:pt>
                <c:pt idx="36">
                  <c:v>09-28</c:v>
                </c:pt>
                <c:pt idx="37">
                  <c:v>09-29</c:v>
                </c:pt>
                <c:pt idx="38">
                  <c:v>09-30</c:v>
                </c:pt>
                <c:pt idx="39">
                  <c:v>10-01</c:v>
                </c:pt>
                <c:pt idx="40">
                  <c:v>10-02</c:v>
                </c:pt>
                <c:pt idx="41">
                  <c:v>10-03</c:v>
                </c:pt>
                <c:pt idx="42">
                  <c:v>10-04</c:v>
                </c:pt>
                <c:pt idx="43">
                  <c:v>10-05</c:v>
                </c:pt>
                <c:pt idx="44">
                  <c:v>10-06</c:v>
                </c:pt>
              </c:strCache>
            </c:strRef>
          </c:cat>
          <c:val>
            <c:numRef>
              <c:f>Sheet1!$B$2:$B$46</c:f>
              <c:numCache>
                <c:formatCode>General</c:formatCode>
                <c:ptCount val="45"/>
                <c:pt idx="0">
                  <c:v>98.1</c:v>
                </c:pt>
                <c:pt idx="1">
                  <c:v>97.7</c:v>
                </c:pt>
                <c:pt idx="2">
                  <c:v>94.4</c:v>
                </c:pt>
                <c:pt idx="3">
                  <c:v>98.2</c:v>
                </c:pt>
                <c:pt idx="4">
                  <c:v>125.2</c:v>
                </c:pt>
                <c:pt idx="5">
                  <c:v>106.9</c:v>
                </c:pt>
                <c:pt idx="6">
                  <c:v>86.7</c:v>
                </c:pt>
                <c:pt idx="7">
                  <c:v>100.9</c:v>
                </c:pt>
                <c:pt idx="8">
                  <c:v>93.0</c:v>
                </c:pt>
                <c:pt idx="9">
                  <c:v>65.5</c:v>
                </c:pt>
                <c:pt idx="10">
                  <c:v>110.2</c:v>
                </c:pt>
                <c:pt idx="11">
                  <c:v>101.7</c:v>
                </c:pt>
                <c:pt idx="12">
                  <c:v>91.0</c:v>
                </c:pt>
                <c:pt idx="13">
                  <c:v>98.2</c:v>
                </c:pt>
                <c:pt idx="14">
                  <c:v>126.3</c:v>
                </c:pt>
                <c:pt idx="15">
                  <c:v>87.3</c:v>
                </c:pt>
                <c:pt idx="16">
                  <c:v>62.2</c:v>
                </c:pt>
                <c:pt idx="17">
                  <c:v>93.0</c:v>
                </c:pt>
                <c:pt idx="18">
                  <c:v>109.7</c:v>
                </c:pt>
                <c:pt idx="19">
                  <c:v>104.6</c:v>
                </c:pt>
                <c:pt idx="20">
                  <c:v>155.8</c:v>
                </c:pt>
                <c:pt idx="21">
                  <c:v>95.3</c:v>
                </c:pt>
                <c:pt idx="22">
                  <c:v>85.8</c:v>
                </c:pt>
                <c:pt idx="23">
                  <c:v>116.0</c:v>
                </c:pt>
                <c:pt idx="24">
                  <c:v>96.2</c:v>
                </c:pt>
                <c:pt idx="25">
                  <c:v>100.6</c:v>
                </c:pt>
                <c:pt idx="26">
                  <c:v>98.3</c:v>
                </c:pt>
                <c:pt idx="27">
                  <c:v>109.2</c:v>
                </c:pt>
                <c:pt idx="28">
                  <c:v>83.6</c:v>
                </c:pt>
                <c:pt idx="29">
                  <c:v>96.0</c:v>
                </c:pt>
                <c:pt idx="30">
                  <c:v>101.8</c:v>
                </c:pt>
                <c:pt idx="31">
                  <c:v>77.8</c:v>
                </c:pt>
                <c:pt idx="32">
                  <c:v>92.3</c:v>
                </c:pt>
                <c:pt idx="33">
                  <c:v>81.7</c:v>
                </c:pt>
                <c:pt idx="34">
                  <c:v>104.0</c:v>
                </c:pt>
                <c:pt idx="35">
                  <c:v>108.4</c:v>
                </c:pt>
                <c:pt idx="36">
                  <c:v>84.8</c:v>
                </c:pt>
                <c:pt idx="37">
                  <c:v>95.5</c:v>
                </c:pt>
                <c:pt idx="38">
                  <c:v>116.9</c:v>
                </c:pt>
                <c:pt idx="39">
                  <c:v>74.7</c:v>
                </c:pt>
                <c:pt idx="40">
                  <c:v>81.9</c:v>
                </c:pt>
                <c:pt idx="41">
                  <c:v>42.4</c:v>
                </c:pt>
                <c:pt idx="42">
                  <c:v>35.4</c:v>
                </c:pt>
                <c:pt idx="43">
                  <c:v>35.9</c:v>
                </c:pt>
                <c:pt idx="44">
                  <c:v>47.6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CTR</c:v>
                </c:pt>
              </c:strCache>
            </c:strRef>
          </c:tx>
          <c:spPr>
            <a:ln w="28575">
              <a:solidFill>
                <a:srgbClr val="F5B03A"/>
              </a:solidFill>
            </a:ln>
          </c:spPr>
          <c:marker>
            <c:symbol val="none"/>
          </c:marker>
          <c:cat>
            <c:strRef>
              <c:f>Sheet1!$A$2:$A$46</c:f>
              <c:strCache>
                <c:ptCount val="45"/>
                <c:pt idx="0">
                  <c:v>08-23</c:v>
                </c:pt>
                <c:pt idx="1">
                  <c:v>08-24</c:v>
                </c:pt>
                <c:pt idx="2">
                  <c:v>08-25</c:v>
                </c:pt>
                <c:pt idx="3">
                  <c:v>08-26</c:v>
                </c:pt>
                <c:pt idx="4">
                  <c:v>08-27</c:v>
                </c:pt>
                <c:pt idx="5">
                  <c:v>08-28</c:v>
                </c:pt>
                <c:pt idx="6">
                  <c:v>08-29</c:v>
                </c:pt>
                <c:pt idx="7">
                  <c:v>08-30</c:v>
                </c:pt>
                <c:pt idx="8">
                  <c:v>08-31</c:v>
                </c:pt>
                <c:pt idx="9">
                  <c:v>09-01</c:v>
                </c:pt>
                <c:pt idx="10">
                  <c:v>09-02</c:v>
                </c:pt>
                <c:pt idx="11">
                  <c:v>09-03</c:v>
                </c:pt>
                <c:pt idx="12">
                  <c:v>09-04</c:v>
                </c:pt>
                <c:pt idx="13">
                  <c:v>09-05</c:v>
                </c:pt>
                <c:pt idx="14">
                  <c:v>09-06</c:v>
                </c:pt>
                <c:pt idx="15">
                  <c:v>09-07</c:v>
                </c:pt>
                <c:pt idx="16">
                  <c:v>09-08</c:v>
                </c:pt>
                <c:pt idx="17">
                  <c:v>09-09</c:v>
                </c:pt>
                <c:pt idx="18">
                  <c:v>09-10</c:v>
                </c:pt>
                <c:pt idx="19">
                  <c:v>09-11</c:v>
                </c:pt>
                <c:pt idx="20">
                  <c:v>09-12</c:v>
                </c:pt>
                <c:pt idx="21">
                  <c:v>09-13</c:v>
                </c:pt>
                <c:pt idx="22">
                  <c:v>09-14</c:v>
                </c:pt>
                <c:pt idx="23">
                  <c:v>09-15</c:v>
                </c:pt>
                <c:pt idx="24">
                  <c:v>09-16</c:v>
                </c:pt>
                <c:pt idx="25">
                  <c:v>09-17</c:v>
                </c:pt>
                <c:pt idx="26">
                  <c:v>09-18</c:v>
                </c:pt>
                <c:pt idx="27">
                  <c:v>09-19</c:v>
                </c:pt>
                <c:pt idx="28">
                  <c:v>09-20</c:v>
                </c:pt>
                <c:pt idx="29">
                  <c:v>09-21</c:v>
                </c:pt>
                <c:pt idx="30">
                  <c:v>09-22</c:v>
                </c:pt>
                <c:pt idx="31">
                  <c:v>09-23</c:v>
                </c:pt>
                <c:pt idx="32">
                  <c:v>09-24</c:v>
                </c:pt>
                <c:pt idx="33">
                  <c:v>09-25</c:v>
                </c:pt>
                <c:pt idx="34">
                  <c:v>09-26</c:v>
                </c:pt>
                <c:pt idx="35">
                  <c:v>09-27</c:v>
                </c:pt>
                <c:pt idx="36">
                  <c:v>09-28</c:v>
                </c:pt>
                <c:pt idx="37">
                  <c:v>09-29</c:v>
                </c:pt>
                <c:pt idx="38">
                  <c:v>09-30</c:v>
                </c:pt>
                <c:pt idx="39">
                  <c:v>10-01</c:v>
                </c:pt>
                <c:pt idx="40">
                  <c:v>10-02</c:v>
                </c:pt>
                <c:pt idx="41">
                  <c:v>10-03</c:v>
                </c:pt>
                <c:pt idx="42">
                  <c:v>10-04</c:v>
                </c:pt>
                <c:pt idx="43">
                  <c:v>10-05</c:v>
                </c:pt>
                <c:pt idx="44">
                  <c:v>10-06</c:v>
                </c:pt>
              </c:strCache>
            </c:strRef>
          </c:cat>
          <c:val>
            <c:numRef>
              <c:f>Sheet1!$C$2:$C$46</c:f>
              <c:numCache>
                <c:formatCode>General</c:formatCode>
                <c:ptCount val="45"/>
                <c:pt idx="0">
                  <c:v>97.4</c:v>
                </c:pt>
                <c:pt idx="1">
                  <c:v>102.3</c:v>
                </c:pt>
                <c:pt idx="2">
                  <c:v>107.9</c:v>
                </c:pt>
                <c:pt idx="3">
                  <c:v>93.6</c:v>
                </c:pt>
                <c:pt idx="4">
                  <c:v>94.9</c:v>
                </c:pt>
                <c:pt idx="5">
                  <c:v>97.4</c:v>
                </c:pt>
                <c:pt idx="6">
                  <c:v>99.9</c:v>
                </c:pt>
                <c:pt idx="7">
                  <c:v>98.0</c:v>
                </c:pt>
                <c:pt idx="8">
                  <c:v>100.5</c:v>
                </c:pt>
                <c:pt idx="9">
                  <c:v>102.3</c:v>
                </c:pt>
                <c:pt idx="10">
                  <c:v>105.4</c:v>
                </c:pt>
                <c:pt idx="11">
                  <c:v>97.4</c:v>
                </c:pt>
                <c:pt idx="12">
                  <c:v>103.0</c:v>
                </c:pt>
                <c:pt idx="13">
                  <c:v>102.3</c:v>
                </c:pt>
                <c:pt idx="14">
                  <c:v>106.7</c:v>
                </c:pt>
                <c:pt idx="15">
                  <c:v>98.6</c:v>
                </c:pt>
                <c:pt idx="16">
                  <c:v>98.6</c:v>
                </c:pt>
                <c:pt idx="17">
                  <c:v>99.2</c:v>
                </c:pt>
                <c:pt idx="18">
                  <c:v>98.6</c:v>
                </c:pt>
                <c:pt idx="19">
                  <c:v>101.7</c:v>
                </c:pt>
                <c:pt idx="20">
                  <c:v>103.0</c:v>
                </c:pt>
                <c:pt idx="21">
                  <c:v>99.2</c:v>
                </c:pt>
                <c:pt idx="22">
                  <c:v>98.6</c:v>
                </c:pt>
                <c:pt idx="23">
                  <c:v>100.5</c:v>
                </c:pt>
                <c:pt idx="24">
                  <c:v>93.0</c:v>
                </c:pt>
                <c:pt idx="25">
                  <c:v>105.4</c:v>
                </c:pt>
                <c:pt idx="26">
                  <c:v>94.9</c:v>
                </c:pt>
                <c:pt idx="27">
                  <c:v>104.2</c:v>
                </c:pt>
                <c:pt idx="28">
                  <c:v>96.1</c:v>
                </c:pt>
                <c:pt idx="29">
                  <c:v>96.8</c:v>
                </c:pt>
                <c:pt idx="30">
                  <c:v>94.3</c:v>
                </c:pt>
                <c:pt idx="31">
                  <c:v>99.9</c:v>
                </c:pt>
                <c:pt idx="32">
                  <c:v>99.2</c:v>
                </c:pt>
                <c:pt idx="33">
                  <c:v>93.0</c:v>
                </c:pt>
                <c:pt idx="34">
                  <c:v>101.1</c:v>
                </c:pt>
                <c:pt idx="35">
                  <c:v>101.7</c:v>
                </c:pt>
                <c:pt idx="36">
                  <c:v>93.0</c:v>
                </c:pt>
                <c:pt idx="37">
                  <c:v>95.5</c:v>
                </c:pt>
                <c:pt idx="38">
                  <c:v>94.9</c:v>
                </c:pt>
                <c:pt idx="39">
                  <c:v>77.5</c:v>
                </c:pt>
                <c:pt idx="40">
                  <c:v>63.9</c:v>
                </c:pt>
                <c:pt idx="41">
                  <c:v>48.4</c:v>
                </c:pt>
                <c:pt idx="42">
                  <c:v>49.0</c:v>
                </c:pt>
                <c:pt idx="43">
                  <c:v>46.5</c:v>
                </c:pt>
                <c:pt idx="44">
                  <c:v>49.6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CPC</c:v>
                </c:pt>
              </c:strCache>
            </c:strRef>
          </c:tx>
          <c:spPr>
            <a:ln w="28575">
              <a:solidFill>
                <a:srgbClr val="60A5FA"/>
              </a:solidFill>
            </a:ln>
          </c:spPr>
          <c:marker>
            <c:symbol val="none"/>
          </c:marker>
          <c:cat>
            <c:strRef>
              <c:f>Sheet1!$A$2:$A$46</c:f>
              <c:strCache>
                <c:ptCount val="45"/>
                <c:pt idx="0">
                  <c:v>08-23</c:v>
                </c:pt>
                <c:pt idx="1">
                  <c:v>08-24</c:v>
                </c:pt>
                <c:pt idx="2">
                  <c:v>08-25</c:v>
                </c:pt>
                <c:pt idx="3">
                  <c:v>08-26</c:v>
                </c:pt>
                <c:pt idx="4">
                  <c:v>08-27</c:v>
                </c:pt>
                <c:pt idx="5">
                  <c:v>08-28</c:v>
                </c:pt>
                <c:pt idx="6">
                  <c:v>08-29</c:v>
                </c:pt>
                <c:pt idx="7">
                  <c:v>08-30</c:v>
                </c:pt>
                <c:pt idx="8">
                  <c:v>08-31</c:v>
                </c:pt>
                <c:pt idx="9">
                  <c:v>09-01</c:v>
                </c:pt>
                <c:pt idx="10">
                  <c:v>09-02</c:v>
                </c:pt>
                <c:pt idx="11">
                  <c:v>09-03</c:v>
                </c:pt>
                <c:pt idx="12">
                  <c:v>09-04</c:v>
                </c:pt>
                <c:pt idx="13">
                  <c:v>09-05</c:v>
                </c:pt>
                <c:pt idx="14">
                  <c:v>09-06</c:v>
                </c:pt>
                <c:pt idx="15">
                  <c:v>09-07</c:v>
                </c:pt>
                <c:pt idx="16">
                  <c:v>09-08</c:v>
                </c:pt>
                <c:pt idx="17">
                  <c:v>09-09</c:v>
                </c:pt>
                <c:pt idx="18">
                  <c:v>09-10</c:v>
                </c:pt>
                <c:pt idx="19">
                  <c:v>09-11</c:v>
                </c:pt>
                <c:pt idx="20">
                  <c:v>09-12</c:v>
                </c:pt>
                <c:pt idx="21">
                  <c:v>09-13</c:v>
                </c:pt>
                <c:pt idx="22">
                  <c:v>09-14</c:v>
                </c:pt>
                <c:pt idx="23">
                  <c:v>09-15</c:v>
                </c:pt>
                <c:pt idx="24">
                  <c:v>09-16</c:v>
                </c:pt>
                <c:pt idx="25">
                  <c:v>09-17</c:v>
                </c:pt>
                <c:pt idx="26">
                  <c:v>09-18</c:v>
                </c:pt>
                <c:pt idx="27">
                  <c:v>09-19</c:v>
                </c:pt>
                <c:pt idx="28">
                  <c:v>09-20</c:v>
                </c:pt>
                <c:pt idx="29">
                  <c:v>09-21</c:v>
                </c:pt>
                <c:pt idx="30">
                  <c:v>09-22</c:v>
                </c:pt>
                <c:pt idx="31">
                  <c:v>09-23</c:v>
                </c:pt>
                <c:pt idx="32">
                  <c:v>09-24</c:v>
                </c:pt>
                <c:pt idx="33">
                  <c:v>09-25</c:v>
                </c:pt>
                <c:pt idx="34">
                  <c:v>09-26</c:v>
                </c:pt>
                <c:pt idx="35">
                  <c:v>09-27</c:v>
                </c:pt>
                <c:pt idx="36">
                  <c:v>09-28</c:v>
                </c:pt>
                <c:pt idx="37">
                  <c:v>09-29</c:v>
                </c:pt>
                <c:pt idx="38">
                  <c:v>09-30</c:v>
                </c:pt>
                <c:pt idx="39">
                  <c:v>10-01</c:v>
                </c:pt>
                <c:pt idx="40">
                  <c:v>10-02</c:v>
                </c:pt>
                <c:pt idx="41">
                  <c:v>10-03</c:v>
                </c:pt>
                <c:pt idx="42">
                  <c:v>10-04</c:v>
                </c:pt>
                <c:pt idx="43">
                  <c:v>10-05</c:v>
                </c:pt>
                <c:pt idx="44">
                  <c:v>10-06</c:v>
                </c:pt>
              </c:strCache>
            </c:strRef>
          </c:cat>
          <c:val>
            <c:numRef>
              <c:f>Sheet1!$D$2:$D$46</c:f>
              <c:numCache>
                <c:formatCode>General</c:formatCode>
                <c:ptCount val="45"/>
                <c:pt idx="0">
                  <c:v>96.6</c:v>
                </c:pt>
                <c:pt idx="1">
                  <c:v>95.8</c:v>
                </c:pt>
                <c:pt idx="2">
                  <c:v>94.9</c:v>
                </c:pt>
                <c:pt idx="3">
                  <c:v>87.9</c:v>
                </c:pt>
                <c:pt idx="4">
                  <c:v>104.8</c:v>
                </c:pt>
                <c:pt idx="5">
                  <c:v>96.7</c:v>
                </c:pt>
                <c:pt idx="6">
                  <c:v>116.0</c:v>
                </c:pt>
                <c:pt idx="7">
                  <c:v>112.8</c:v>
                </c:pt>
                <c:pt idx="8">
                  <c:v>111.8</c:v>
                </c:pt>
                <c:pt idx="9">
                  <c:v>107.8</c:v>
                </c:pt>
                <c:pt idx="10">
                  <c:v>87.5</c:v>
                </c:pt>
                <c:pt idx="11">
                  <c:v>98.3</c:v>
                </c:pt>
                <c:pt idx="12">
                  <c:v>99.0</c:v>
                </c:pt>
                <c:pt idx="13">
                  <c:v>94.2</c:v>
                </c:pt>
                <c:pt idx="14">
                  <c:v>96.9</c:v>
                </c:pt>
                <c:pt idx="15">
                  <c:v>108.2</c:v>
                </c:pt>
                <c:pt idx="16">
                  <c:v>104.8</c:v>
                </c:pt>
                <c:pt idx="17">
                  <c:v>101.5</c:v>
                </c:pt>
                <c:pt idx="18">
                  <c:v>90.4</c:v>
                </c:pt>
                <c:pt idx="19">
                  <c:v>102.3</c:v>
                </c:pt>
                <c:pt idx="20">
                  <c:v>91.8</c:v>
                </c:pt>
                <c:pt idx="21">
                  <c:v>105.4</c:v>
                </c:pt>
                <c:pt idx="22">
                  <c:v>97.3</c:v>
                </c:pt>
                <c:pt idx="23">
                  <c:v>97.6</c:v>
                </c:pt>
                <c:pt idx="24">
                  <c:v>99.8</c:v>
                </c:pt>
                <c:pt idx="25">
                  <c:v>99.0</c:v>
                </c:pt>
                <c:pt idx="26">
                  <c:v>103.3</c:v>
                </c:pt>
                <c:pt idx="27">
                  <c:v>98.6</c:v>
                </c:pt>
                <c:pt idx="28">
                  <c:v>103.7</c:v>
                </c:pt>
                <c:pt idx="29">
                  <c:v>108.3</c:v>
                </c:pt>
                <c:pt idx="30">
                  <c:v>86.9</c:v>
                </c:pt>
                <c:pt idx="31">
                  <c:v>107.5</c:v>
                </c:pt>
                <c:pt idx="32">
                  <c:v>89.7</c:v>
                </c:pt>
                <c:pt idx="33">
                  <c:v>104.7</c:v>
                </c:pt>
                <c:pt idx="34">
                  <c:v>103.0</c:v>
                </c:pt>
                <c:pt idx="35">
                  <c:v>100.3</c:v>
                </c:pt>
                <c:pt idx="36">
                  <c:v>113.3</c:v>
                </c:pt>
                <c:pt idx="37">
                  <c:v>99.3</c:v>
                </c:pt>
                <c:pt idx="38">
                  <c:v>90.6</c:v>
                </c:pt>
                <c:pt idx="39">
                  <c:v>141.7</c:v>
                </c:pt>
                <c:pt idx="40">
                  <c:v>146.6</c:v>
                </c:pt>
                <c:pt idx="41">
                  <c:v>225.0</c:v>
                </c:pt>
                <c:pt idx="42">
                  <c:v>212.0</c:v>
                </c:pt>
                <c:pt idx="43">
                  <c:v>247.3</c:v>
                </c:pt>
                <c:pt idx="44">
                  <c:v>230.9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Conversion rate</c:v>
                </c:pt>
              </c:strCache>
            </c:strRef>
          </c:tx>
          <c:spPr>
            <a:ln w="19050">
              <a:solidFill>
                <a:srgbClr val="8F9DB8"/>
              </a:solidFill>
            </a:ln>
          </c:spPr>
          <c:marker>
            <c:symbol val="none"/>
          </c:marker>
          <c:cat>
            <c:strRef>
              <c:f>Sheet1!$A$2:$A$46</c:f>
              <c:strCache>
                <c:ptCount val="45"/>
                <c:pt idx="0">
                  <c:v>08-23</c:v>
                </c:pt>
                <c:pt idx="1">
                  <c:v>08-24</c:v>
                </c:pt>
                <c:pt idx="2">
                  <c:v>08-25</c:v>
                </c:pt>
                <c:pt idx="3">
                  <c:v>08-26</c:v>
                </c:pt>
                <c:pt idx="4">
                  <c:v>08-27</c:v>
                </c:pt>
                <c:pt idx="5">
                  <c:v>08-28</c:v>
                </c:pt>
                <c:pt idx="6">
                  <c:v>08-29</c:v>
                </c:pt>
                <c:pt idx="7">
                  <c:v>08-30</c:v>
                </c:pt>
                <c:pt idx="8">
                  <c:v>08-31</c:v>
                </c:pt>
                <c:pt idx="9">
                  <c:v>09-01</c:v>
                </c:pt>
                <c:pt idx="10">
                  <c:v>09-02</c:v>
                </c:pt>
                <c:pt idx="11">
                  <c:v>09-03</c:v>
                </c:pt>
                <c:pt idx="12">
                  <c:v>09-04</c:v>
                </c:pt>
                <c:pt idx="13">
                  <c:v>09-05</c:v>
                </c:pt>
                <c:pt idx="14">
                  <c:v>09-06</c:v>
                </c:pt>
                <c:pt idx="15">
                  <c:v>09-07</c:v>
                </c:pt>
                <c:pt idx="16">
                  <c:v>09-08</c:v>
                </c:pt>
                <c:pt idx="17">
                  <c:v>09-09</c:v>
                </c:pt>
                <c:pt idx="18">
                  <c:v>09-10</c:v>
                </c:pt>
                <c:pt idx="19">
                  <c:v>09-11</c:v>
                </c:pt>
                <c:pt idx="20">
                  <c:v>09-12</c:v>
                </c:pt>
                <c:pt idx="21">
                  <c:v>09-13</c:v>
                </c:pt>
                <c:pt idx="22">
                  <c:v>09-14</c:v>
                </c:pt>
                <c:pt idx="23">
                  <c:v>09-15</c:v>
                </c:pt>
                <c:pt idx="24">
                  <c:v>09-16</c:v>
                </c:pt>
                <c:pt idx="25">
                  <c:v>09-17</c:v>
                </c:pt>
                <c:pt idx="26">
                  <c:v>09-18</c:v>
                </c:pt>
                <c:pt idx="27">
                  <c:v>09-19</c:v>
                </c:pt>
                <c:pt idx="28">
                  <c:v>09-20</c:v>
                </c:pt>
                <c:pt idx="29">
                  <c:v>09-21</c:v>
                </c:pt>
                <c:pt idx="30">
                  <c:v>09-22</c:v>
                </c:pt>
                <c:pt idx="31">
                  <c:v>09-23</c:v>
                </c:pt>
                <c:pt idx="32">
                  <c:v>09-24</c:v>
                </c:pt>
                <c:pt idx="33">
                  <c:v>09-25</c:v>
                </c:pt>
                <c:pt idx="34">
                  <c:v>09-26</c:v>
                </c:pt>
                <c:pt idx="35">
                  <c:v>09-27</c:v>
                </c:pt>
                <c:pt idx="36">
                  <c:v>09-28</c:v>
                </c:pt>
                <c:pt idx="37">
                  <c:v>09-29</c:v>
                </c:pt>
                <c:pt idx="38">
                  <c:v>09-30</c:v>
                </c:pt>
                <c:pt idx="39">
                  <c:v>10-01</c:v>
                </c:pt>
                <c:pt idx="40">
                  <c:v>10-02</c:v>
                </c:pt>
                <c:pt idx="41">
                  <c:v>10-03</c:v>
                </c:pt>
                <c:pt idx="42">
                  <c:v>10-04</c:v>
                </c:pt>
                <c:pt idx="43">
                  <c:v>10-05</c:v>
                </c:pt>
                <c:pt idx="44">
                  <c:v>10-06</c:v>
                </c:pt>
              </c:strCache>
            </c:strRef>
          </c:cat>
          <c:val>
            <c:numRef>
              <c:f>Sheet1!$E$2:$E$46</c:f>
              <c:numCache>
                <c:formatCode>General</c:formatCode>
                <c:ptCount val="45"/>
                <c:pt idx="0">
                  <c:v>95.9</c:v>
                </c:pt>
                <c:pt idx="1">
                  <c:v>94.6</c:v>
                </c:pt>
                <c:pt idx="2">
                  <c:v>90.6</c:v>
                </c:pt>
                <c:pt idx="3">
                  <c:v>86.6</c:v>
                </c:pt>
                <c:pt idx="4">
                  <c:v>131.9</c:v>
                </c:pt>
                <c:pt idx="5">
                  <c:v>103.9</c:v>
                </c:pt>
                <c:pt idx="6">
                  <c:v>101.3</c:v>
                </c:pt>
                <c:pt idx="7">
                  <c:v>114.6</c:v>
                </c:pt>
                <c:pt idx="8">
                  <c:v>103.9</c:v>
                </c:pt>
                <c:pt idx="9">
                  <c:v>70.6</c:v>
                </c:pt>
                <c:pt idx="10">
                  <c:v>97.3</c:v>
                </c:pt>
                <c:pt idx="11">
                  <c:v>99.9</c:v>
                </c:pt>
                <c:pt idx="12">
                  <c:v>90.6</c:v>
                </c:pt>
                <c:pt idx="13">
                  <c:v>93.3</c:v>
                </c:pt>
                <c:pt idx="14">
                  <c:v>122.6</c:v>
                </c:pt>
                <c:pt idx="15">
                  <c:v>94.6</c:v>
                </c:pt>
                <c:pt idx="16">
                  <c:v>65.3</c:v>
                </c:pt>
                <c:pt idx="17">
                  <c:v>94.6</c:v>
                </c:pt>
                <c:pt idx="18">
                  <c:v>99.9</c:v>
                </c:pt>
                <c:pt idx="19">
                  <c:v>107.9</c:v>
                </c:pt>
                <c:pt idx="20">
                  <c:v>143.9</c:v>
                </c:pt>
                <c:pt idx="21">
                  <c:v>101.3</c:v>
                </c:pt>
                <c:pt idx="22">
                  <c:v>84.0</c:v>
                </c:pt>
                <c:pt idx="23">
                  <c:v>113.3</c:v>
                </c:pt>
                <c:pt idx="24">
                  <c:v>97.3</c:v>
                </c:pt>
                <c:pt idx="25">
                  <c:v>99.9</c:v>
                </c:pt>
                <c:pt idx="26">
                  <c:v>102.6</c:v>
                </c:pt>
                <c:pt idx="27">
                  <c:v>107.9</c:v>
                </c:pt>
                <c:pt idx="28">
                  <c:v>86.6</c:v>
                </c:pt>
                <c:pt idx="29">
                  <c:v>105.3</c:v>
                </c:pt>
                <c:pt idx="30">
                  <c:v>89.3</c:v>
                </c:pt>
                <c:pt idx="31">
                  <c:v>84.0</c:v>
                </c:pt>
                <c:pt idx="32">
                  <c:v>82.6</c:v>
                </c:pt>
                <c:pt idx="33">
                  <c:v>86.6</c:v>
                </c:pt>
                <c:pt idx="34">
                  <c:v>107.9</c:v>
                </c:pt>
                <c:pt idx="35">
                  <c:v>109.3</c:v>
                </c:pt>
                <c:pt idx="36">
                  <c:v>97.3</c:v>
                </c:pt>
                <c:pt idx="37">
                  <c:v>95.9</c:v>
                </c:pt>
                <c:pt idx="38">
                  <c:v>106.6</c:v>
                </c:pt>
                <c:pt idx="39">
                  <c:v>106.6</c:v>
                </c:pt>
                <c:pt idx="40">
                  <c:v>121.3</c:v>
                </c:pt>
                <c:pt idx="41">
                  <c:v>95.9</c:v>
                </c:pt>
                <c:pt idx="42">
                  <c:v>76.0</c:v>
                </c:pt>
                <c:pt idx="43">
                  <c:v>89.3</c:v>
                </c:pt>
                <c:pt idx="44">
                  <c:v>110.6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2A3856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2A3856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solidFill>
                <a:srgbClr val="ECF1F9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8F9DB8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Current ₹/day</c:v>
                </c:pt>
              </c:strCache>
            </c:strRef>
          </c:tx>
          <c:spPr>
            <a:solidFill>
              <a:srgbClr val="2A3856"/>
            </a:solidFill>
          </c:spPr>
          <c:cat>
            <c:strRef>
              <c:f>Sheet1!$A$2:$A$13</c:f>
              <c:strCache>
                <c:ptCount val="12"/>
                <c:pt idx="0">
                  <c:v>Air Jordan 10 Retro Meta LAL</c:v>
                </c:pt>
                <c:pt idx="1">
                  <c:v>Air Jordan 10 Retro Google RT</c:v>
                </c:pt>
                <c:pt idx="2">
                  <c:v>Nike Zoom Fly Google Interest</c:v>
                </c:pt>
                <c:pt idx="3">
                  <c:v>Nike Zoom Fly Instagram LAL</c:v>
                </c:pt>
                <c:pt idx="4">
                  <c:v>Nike Air Monarch IV Meta Broad</c:v>
                </c:pt>
                <c:pt idx="5">
                  <c:v>Nike Air Monarch IV Google RT</c:v>
                </c:pt>
                <c:pt idx="6">
                  <c:v>Nike Air Max 270 Instagram LAL</c:v>
                </c:pt>
                <c:pt idx="7">
                  <c:v>Nike Air Max 270 YouTube Broad</c:v>
                </c:pt>
                <c:pt idx="8">
                  <c:v>Nike Epic React Flyknit 2 Meta RT</c:v>
                </c:pt>
                <c:pt idx="9">
                  <c:v>Nike Epic React Flyknit 2 Google Interest</c:v>
                </c:pt>
                <c:pt idx="10">
                  <c:v>Nike Free X Metcon 2 Meta Broad</c:v>
                </c:pt>
                <c:pt idx="11">
                  <c:v>Nike Free X Metcon 2 Instagram LAL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40000.0</c:v>
                </c:pt>
                <c:pt idx="1">
                  <c:v>14000.0</c:v>
                </c:pt>
                <c:pt idx="2">
                  <c:v>22000.0</c:v>
                </c:pt>
                <c:pt idx="3">
                  <c:v>12000.0</c:v>
                </c:pt>
                <c:pt idx="4">
                  <c:v>26000.0</c:v>
                </c:pt>
                <c:pt idx="5">
                  <c:v>9000.0</c:v>
                </c:pt>
                <c:pt idx="6">
                  <c:v>24000.0</c:v>
                </c:pt>
                <c:pt idx="7">
                  <c:v>10000.0</c:v>
                </c:pt>
                <c:pt idx="8">
                  <c:v>12000.0</c:v>
                </c:pt>
                <c:pt idx="9">
                  <c:v>18000.0</c:v>
                </c:pt>
                <c:pt idx="10">
                  <c:v>16000.0</c:v>
                </c:pt>
                <c:pt idx="11">
                  <c:v>10000.0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Recommended ₹/day</c:v>
                </c:pt>
              </c:strCache>
            </c:strRef>
          </c:tx>
          <c:spPr>
            <a:solidFill>
              <a:srgbClr val="F5B03A"/>
            </a:solidFill>
          </c:spPr>
          <c:cat>
            <c:strRef>
              <c:f>Sheet1!$A$2:$A$13</c:f>
              <c:strCache>
                <c:ptCount val="12"/>
                <c:pt idx="0">
                  <c:v>Air Jordan 10 Retro Meta LAL</c:v>
                </c:pt>
                <c:pt idx="1">
                  <c:v>Air Jordan 10 Retro Google RT</c:v>
                </c:pt>
                <c:pt idx="2">
                  <c:v>Nike Zoom Fly Google Interest</c:v>
                </c:pt>
                <c:pt idx="3">
                  <c:v>Nike Zoom Fly Instagram LAL</c:v>
                </c:pt>
                <c:pt idx="4">
                  <c:v>Nike Air Monarch IV Meta Broad</c:v>
                </c:pt>
                <c:pt idx="5">
                  <c:v>Nike Air Monarch IV Google RT</c:v>
                </c:pt>
                <c:pt idx="6">
                  <c:v>Nike Air Max 270 Instagram LAL</c:v>
                </c:pt>
                <c:pt idx="7">
                  <c:v>Nike Air Max 270 YouTube Broad</c:v>
                </c:pt>
                <c:pt idx="8">
                  <c:v>Nike Epic React Flyknit 2 Meta RT</c:v>
                </c:pt>
                <c:pt idx="9">
                  <c:v>Nike Epic React Flyknit 2 Google Interest</c:v>
                </c:pt>
                <c:pt idx="10">
                  <c:v>Nike Free X Metcon 2 Meta Broad</c:v>
                </c:pt>
                <c:pt idx="11">
                  <c:v>Nike Free X Metcon 2 Instagram LAL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28000.0</c:v>
                </c:pt>
                <c:pt idx="1">
                  <c:v>14000.0</c:v>
                </c:pt>
                <c:pt idx="2">
                  <c:v>44000.0</c:v>
                </c:pt>
                <c:pt idx="3">
                  <c:v>12000.0</c:v>
                </c:pt>
                <c:pt idx="4">
                  <c:v>20000.0</c:v>
                </c:pt>
                <c:pt idx="5">
                  <c:v>18000.0</c:v>
                </c:pt>
                <c:pt idx="6">
                  <c:v>17000.0</c:v>
                </c:pt>
                <c:pt idx="7">
                  <c:v>7000.0</c:v>
                </c:pt>
                <c:pt idx="8">
                  <c:v>12000.0</c:v>
                </c:pt>
                <c:pt idx="9">
                  <c:v>18000.0</c:v>
                </c:pt>
                <c:pt idx="10">
                  <c:v>16000.0</c:v>
                </c:pt>
                <c:pt idx="11">
                  <c:v>7000.0</c:v>
                </c:pt>
              </c:numCache>
            </c:numRef>
          </c:val>
        </c:ser>
        <c:gapWidth val="45"/>
        <c:overlap val="-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2A3856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6350">
              <a:solidFill>
                <a:srgbClr val="2A3856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solidFill>
                <a:srgbClr val="ECF1F9"/>
              </a:solidFill>
            </a:defRPr>
          </a:pPr>
        </a:p>
      </c:txPr>
    </c:legend>
    <c:dispBlanksAs val="gap"/>
  </c:chart>
  <c:txPr>
    <a:bodyPr/>
    <a:lstStyle/>
    <a:p>
      <a:pPr>
        <a:defRPr sz="900">
          <a:solidFill>
            <a:srgbClr val="8F9DB8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B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5B03A"/>
                </a:solidFill>
                <a:latin typeface="Segoe UI"/>
              </a:rPr>
              <a:t>01  · 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CF1F9"/>
                </a:solidFill>
                <a:latin typeface="Segoe UI"/>
              </a:rPr>
              <a:t>Ad spend is decided in four dashboards that disagree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898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9DB8"/>
                </a:solidFill>
                <a:latin typeface="Segoe UI"/>
              </a:rPr>
              <a:t>D2C brands spend crores on ads across platforms — and still allocate the next rupee by gut feel.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F9DB8"/>
                </a:solidFill>
                <a:latin typeface="Segoe UI"/>
              </a:rPr>
              <a:t>AegisOne · Autonomous Marketing CFO · DataQuest 3.0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F9DB8"/>
                </a:solidFill>
                <a:latin typeface="Segoe UI"/>
              </a:rPr>
              <a:t>1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5669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5B03A"/>
                </a:solidFill>
                <a:latin typeface="Segoe UI"/>
              </a:rPr>
              <a:t>Autonomous Marketing CFO</a:t>
            </a:r>
          </a:p>
          <a:p>
            <a:pPr algn="l"/>
            <a:r>
              <a:rPr sz="1300" b="0" i="0">
                <a:solidFill>
                  <a:srgbClr val="8F9DB8"/>
                </a:solidFill>
                <a:latin typeface="Segoe UI"/>
              </a:rPr>
              <a:t>Next-generation autonomous D2C advertising intelligence &amp; decision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246120"/>
            <a:ext cx="1371600" cy="155448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3246120"/>
            <a:ext cx="1371600" cy="64008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429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60A5FA"/>
                </a:solidFill>
                <a:latin typeface="Segoe UI"/>
              </a:rPr>
              <a:t>Meta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749039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CF1F9"/>
                </a:solidFill>
                <a:latin typeface="Segoe UI"/>
              </a:rPr>
              <a:t>5.8×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15968"/>
            <a:ext cx="1143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9DB8"/>
                </a:solidFill>
                <a:latin typeface="Segoe UI"/>
              </a:rPr>
              <a:t>reported ROAS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75688" y="3246120"/>
            <a:ext cx="1371600" cy="155448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75688" y="3246120"/>
            <a:ext cx="1371600" cy="640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12848" y="3429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DD4BF"/>
                </a:solidFill>
                <a:latin typeface="Segoe UI"/>
              </a:rPr>
              <a:t>Google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12848" y="3749039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CF1F9"/>
                </a:solidFill>
                <a:latin typeface="Segoe UI"/>
              </a:rPr>
              <a:t>8.0×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12848" y="4315968"/>
            <a:ext cx="1143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9DB8"/>
                </a:solidFill>
                <a:latin typeface="Segoe UI"/>
              </a:rPr>
              <a:t>reported ROAS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57016" y="3246120"/>
            <a:ext cx="1371600" cy="155448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57016" y="3246120"/>
            <a:ext cx="1371600" cy="6400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94176" y="3429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A78BFA"/>
                </a:solidFill>
                <a:latin typeface="Segoe UI"/>
              </a:rPr>
              <a:t>Instagram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94176" y="3749039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CF1F9"/>
                </a:solidFill>
                <a:latin typeface="Segoe UI"/>
              </a:rPr>
              <a:t>6.2×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4176" y="4315968"/>
            <a:ext cx="1143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9DB8"/>
                </a:solidFill>
                <a:latin typeface="Segoe UI"/>
              </a:rPr>
              <a:t>reported ROAS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38344" y="3246120"/>
            <a:ext cx="1371600" cy="155448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38344" y="3246120"/>
            <a:ext cx="1371600" cy="64008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75504" y="3429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87171"/>
                </a:solidFill>
                <a:latin typeface="Segoe UI"/>
              </a:rPr>
              <a:t>YouTube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75504" y="3749039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CF1F9"/>
                </a:solidFill>
                <a:latin typeface="Segoe UI"/>
              </a:rPr>
              <a:t>6.5×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75504" y="4315968"/>
            <a:ext cx="1143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9DB8"/>
                </a:solidFill>
                <a:latin typeface="Segoe UI"/>
              </a:rPr>
              <a:t>reported ROAS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4983480"/>
            <a:ext cx="5852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CF1F9"/>
                </a:solidFill>
                <a:latin typeface="Segoe UI"/>
              </a:rPr>
              <a:t>Every platform grades its own homework. Together they claim 16% more orders than the store actually shipped.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20840" y="1965960"/>
            <a:ext cx="4892040" cy="420624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95160" y="217627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B03A"/>
                </a:solidFill>
                <a:latin typeface="Segoe UI"/>
              </a:rPr>
              <a:t>What the marketing head actually faces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95160" y="2752344"/>
            <a:ext cx="91440" cy="420624"/>
          </a:xfrm>
          <a:prstGeom prst="rect">
            <a:avLst/>
          </a:prstGeom>
          <a:solidFill>
            <a:srgbClr val="F5B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69480" y="26974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CF1F9"/>
                </a:solidFill>
                <a:latin typeface="Segoe UI"/>
              </a:rPr>
              <a:t>4+ ad platforms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69480" y="29718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F9DB8"/>
                </a:solidFill>
                <a:latin typeface="Segoe UI"/>
              </a:rPr>
              <a:t>each with its own attribution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95160" y="3419856"/>
            <a:ext cx="91440" cy="420624"/>
          </a:xfrm>
          <a:prstGeom prst="rect">
            <a:avLst/>
          </a:prstGeom>
          <a:solidFill>
            <a:srgbClr val="F5B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69480" y="336499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CF1F9"/>
                </a:solidFill>
                <a:latin typeface="Segoe UI"/>
              </a:rPr>
              <a:t>Margin &amp; inventory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9480" y="36393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F9DB8"/>
                </a:solidFill>
                <a:latin typeface="Segoe UI"/>
              </a:rPr>
              <a:t>invisible to the ad manager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95160" y="4087368"/>
            <a:ext cx="91440" cy="420624"/>
          </a:xfrm>
          <a:prstGeom prst="rect">
            <a:avLst/>
          </a:prstGeom>
          <a:solidFill>
            <a:srgbClr val="F5B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69480" y="403250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CF1F9"/>
                </a:solidFill>
                <a:latin typeface="Segoe UI"/>
              </a:rPr>
              <a:t>Competitor price moves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69480" y="430682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F9DB8"/>
                </a:solidFill>
                <a:latin typeface="Segoe UI"/>
              </a:rPr>
              <a:t>tank conversion — silently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95160" y="4754880"/>
            <a:ext cx="91440" cy="420624"/>
          </a:xfrm>
          <a:prstGeom prst="rect">
            <a:avLst/>
          </a:prstGeom>
          <a:solidFill>
            <a:srgbClr val="F5B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69480" y="470001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CF1F9"/>
                </a:solidFill>
                <a:latin typeface="Segoe UI"/>
              </a:rPr>
              <a:t>One ROAS target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69480" y="4974336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F9DB8"/>
                </a:solidFill>
                <a:latin typeface="Segoe UI"/>
              </a:rPr>
              <a:t>applied to every SKU &amp; company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95160" y="5422392"/>
            <a:ext cx="91440" cy="420624"/>
          </a:xfrm>
          <a:prstGeom prst="rect">
            <a:avLst/>
          </a:prstGeom>
          <a:solidFill>
            <a:srgbClr val="F5B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69480" y="536752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CF1F9"/>
                </a:solidFill>
                <a:latin typeface="Segoe UI"/>
              </a:rPr>
              <a:t>No memory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69480" y="564184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F9DB8"/>
                </a:solidFill>
                <a:latin typeface="Segoe UI"/>
              </a:rPr>
              <a:t>yesterday's decision never scored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B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5B03A"/>
                </a:solidFill>
                <a:latin typeface="Segoe UI"/>
              </a:rPr>
              <a:t>02  ·  WHY DASHBOARDS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CF1F9"/>
                </a:solidFill>
                <a:latin typeface="Segoe UI"/>
              </a:rPr>
              <a:t>A dashboard describes the past. A CFO allocates the future.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898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9DB8"/>
                </a:solidFill>
                <a:latin typeface="Segoe UI"/>
              </a:rPr>
              <a:t>Five structural gaps no amount of charts can close.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F9DB8"/>
                </a:solidFill>
                <a:latin typeface="Segoe UI"/>
              </a:rPr>
              <a:t>AegisOne · Autonomous Marketing CFO · DataQuest 3.0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F9DB8"/>
                </a:solidFill>
                <a:latin typeface="Segoe UI"/>
              </a:rPr>
              <a:t>2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920240"/>
            <a:ext cx="3931920" cy="429768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031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F9DB8"/>
                </a:solidFill>
                <a:latin typeface="Segoe UI"/>
              </a:rPr>
              <a:t>WHAT THE DASHBOARD SAYS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3474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87171"/>
                </a:solidFill>
                <a:latin typeface="Segoe UI"/>
              </a:rPr>
              <a:t>ROAS ↓ 52%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33756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9DB8"/>
                </a:solidFill>
                <a:latin typeface="Segoe UI"/>
              </a:rPr>
              <a:t>Air Jordan 10 Retro · Meta · Lookalike 1%
7.2 → 3.4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160520"/>
            <a:ext cx="3383280" cy="18288"/>
          </a:xfrm>
          <a:prstGeom prst="rect">
            <a:avLst/>
          </a:prstGeom>
          <a:solidFill>
            <a:srgbClr val="2A38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343400"/>
            <a:ext cx="33832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CF1F9"/>
                </a:solidFill>
                <a:latin typeface="Segoe UI"/>
              </a:rPr>
              <a:t>…and then?</a:t>
            </a:r>
          </a:p>
          <a:p>
            <a:pPr algn="l"/>
            <a:r>
              <a:rPr sz="1400" b="0" i="0">
                <a:solidFill>
                  <a:srgbClr val="ECF1F9"/>
                </a:solidFill>
                <a:latin typeface="Segoe UI"/>
              </a:rPr>
              <a:t/>
            </a:r>
          </a:p>
          <a:p>
            <a:pPr algn="l"/>
            <a:r>
              <a:rPr sz="1400" b="0" i="0">
                <a:solidFill>
                  <a:srgbClr val="ECF1F9"/>
                </a:solidFill>
                <a:latin typeface="Segoe UI"/>
              </a:rPr>
              <a:t>Why did it drop?</a:t>
            </a:r>
          </a:p>
          <a:p>
            <a:pPr algn="l"/>
            <a:r>
              <a:rPr sz="1400" b="0" i="0">
                <a:solidFill>
                  <a:srgbClr val="ECF1F9"/>
                </a:solidFill>
                <a:latin typeface="Segoe UI"/>
              </a:rPr>
              <a:t>How much should move?</a:t>
            </a:r>
          </a:p>
          <a:p>
            <a:pPr algn="l"/>
            <a:r>
              <a:rPr sz="1400" b="0" i="0">
                <a:solidFill>
                  <a:srgbClr val="ECF1F9"/>
                </a:solidFill>
                <a:latin typeface="Segoe UI"/>
              </a:rPr>
              <a:t>To where, given margin and stock?</a:t>
            </a:r>
          </a:p>
          <a:p>
            <a:pPr algn="l"/>
            <a:r>
              <a:rPr sz="1400" b="0" i="0">
                <a:solidFill>
                  <a:srgbClr val="ECF1F9"/>
                </a:solidFill>
                <a:latin typeface="Segoe UI"/>
              </a:rPr>
              <a:t>What if the stock changes?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00600" y="1920240"/>
            <a:ext cx="6812280" cy="758952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0600" y="1920240"/>
            <a:ext cx="73152" cy="758952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74920" y="2011680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CF1F9"/>
                </a:solidFill>
                <a:latin typeface="Segoe UI"/>
              </a:rPr>
              <a:t>Descriptive, not prescriptive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2313432"/>
            <a:ext cx="6309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F9DB8"/>
                </a:solidFill>
                <a:latin typeface="Segoe UI"/>
              </a:rPr>
              <a:t>Charts show what happened. Nobody decides what to do about it.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0600" y="2788920"/>
            <a:ext cx="6812280" cy="758952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00600" y="2788920"/>
            <a:ext cx="73152" cy="758952"/>
          </a:xfrm>
          <a:prstGeom prst="rect">
            <a:avLst/>
          </a:prstGeom>
          <a:solidFill>
            <a:srgbClr val="F5B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74920" y="2880360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CF1F9"/>
                </a:solidFill>
                <a:latin typeface="Segoe UI"/>
              </a:rPr>
              <a:t>Siloed &amp; self-attributed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3182112"/>
            <a:ext cx="6309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F9DB8"/>
                </a:solidFill>
                <a:latin typeface="Segoe UI"/>
              </a:rPr>
              <a:t>Each platform over-claims credit; no single version of truth.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00600" y="3657600"/>
            <a:ext cx="6812280" cy="758952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00600" y="3657600"/>
            <a:ext cx="73152" cy="758952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74920" y="3749039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CF1F9"/>
                </a:solidFill>
                <a:latin typeface="Segoe UI"/>
              </a:rPr>
              <a:t>Blind to the business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4050791"/>
            <a:ext cx="6309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F9DB8"/>
                </a:solidFill>
                <a:latin typeface="Segoe UI"/>
              </a:rPr>
              <a:t>Margin, inventory, competitor price never reach the bid decision.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00600" y="4526279"/>
            <a:ext cx="6812280" cy="758952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00600" y="4526279"/>
            <a:ext cx="73152" cy="758952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74920" y="4617719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CF1F9"/>
                </a:solidFill>
                <a:latin typeface="Segoe UI"/>
              </a:rPr>
              <a:t>One-size-fits-all targets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74920" y="4919471"/>
            <a:ext cx="6309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F9DB8"/>
                </a:solidFill>
                <a:latin typeface="Segoe UI"/>
              </a:rPr>
              <a:t>A luxury label and a thin-margin hardware brand get the same ROAS goal.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00600" y="5394960"/>
            <a:ext cx="6812280" cy="758952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00600" y="5394960"/>
            <a:ext cx="73152" cy="75895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74920" y="5486400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CF1F9"/>
                </a:solidFill>
                <a:latin typeface="Segoe UI"/>
              </a:rPr>
              <a:t>Open loop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74920" y="5788152"/>
            <a:ext cx="6309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F9DB8"/>
                </a:solidFill>
                <a:latin typeface="Segoe UI"/>
              </a:rPr>
              <a:t>Decisions are never compared to outcomes, so nothing is learned.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B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5B03A"/>
                </a:solidFill>
                <a:latin typeface="Segoe UI"/>
              </a:rPr>
              <a:t>03  ·  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CF1F9"/>
                </a:solidFill>
                <a:latin typeface="Segoe UI"/>
              </a:rPr>
              <a:t>Where should the next ₹1 of ad spend go?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F9DB8"/>
                </a:solidFill>
                <a:latin typeface="Segoe UI"/>
              </a:rPr>
              <a:t>AegisOne · Autonomous Marketing CFO · DataQuest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F9DB8"/>
                </a:solidFill>
                <a:latin typeface="Segoe UI"/>
              </a:rPr>
              <a:t>3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600200"/>
            <a:ext cx="11018520" cy="1417320"/>
          </a:xfrm>
          <a:prstGeom prst="roundRect">
            <a:avLst>
              <a:gd name="adj" fmla="val 6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10332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8F9DB8"/>
                </a:solidFill>
                <a:latin typeface="Segoe UI"/>
              </a:rPr>
              <a:t>“Instead of telling a company </a:t>
            </a:r>
            <a:r>
              <a:rPr sz="2000" b="0" i="1">
                <a:solidFill>
                  <a:srgbClr val="8F9DB8"/>
                </a:solidFill>
                <a:latin typeface="Segoe UI"/>
              </a:rPr>
              <a:t>what happened</a:t>
            </a:r>
            <a:r>
              <a:rPr sz="2000" b="0" i="0">
                <a:solidFill>
                  <a:srgbClr val="8F9DB8"/>
                </a:solidFill>
                <a:latin typeface="Segoe UI"/>
              </a:rPr>
              <a:t>, our AI Marketing CFO </a:t>
            </a:r>
            <a:r>
              <a:rPr sz="2000" b="1" i="0">
                <a:solidFill>
                  <a:srgbClr val="F5B03A"/>
                </a:solidFill>
                <a:latin typeface="Segoe UI"/>
              </a:rPr>
              <a:t>decides where the company's next ₹1 of advertising spend should go.</a:t>
            </a:r>
            <a:r>
              <a:rPr sz="2000" b="0" i="0">
                <a:solidFill>
                  <a:srgbClr val="8F9DB8"/>
                </a:solidFill>
                <a:latin typeface="Segoe UI"/>
              </a:rPr>
              <a:t>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337560"/>
            <a:ext cx="2057400" cy="251460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3337560"/>
            <a:ext cx="2057400" cy="640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56616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DD4BF"/>
                </a:solidFill>
                <a:latin typeface="Segoe U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84048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ECF1F9"/>
                </a:solidFill>
                <a:latin typeface="Segoe UI"/>
              </a:rPr>
              <a:t>Reconcile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89120"/>
            <a:ext cx="1691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9DB8"/>
                </a:solidFill>
                <a:latin typeface="Segoe UI"/>
              </a:rPr>
              <a:t>One version of the truth across platforms, sales, stock, price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70048" y="4572000"/>
            <a:ext cx="146304" cy="0"/>
          </a:xfrm>
          <a:prstGeom prst="line">
            <a:avLst/>
          </a:prstGeom>
          <a:ln w="22225">
            <a:solidFill>
              <a:srgbClr val="8F9D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34640" y="3337560"/>
            <a:ext cx="2057400" cy="251460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834640" y="3337560"/>
            <a:ext cx="2057400" cy="64008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356616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87171"/>
                </a:solidFill>
                <a:latin typeface="Segoe U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84048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ECF1F9"/>
                </a:solidFill>
                <a:latin typeface="Segoe UI"/>
              </a:rPr>
              <a:t>Diagnose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4389120"/>
            <a:ext cx="1691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9DB8"/>
                </a:solidFill>
                <a:latin typeface="Segoe UI"/>
              </a:rPr>
              <a:t>Anomaly → probable cause → confidence → action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10327" y="4572000"/>
            <a:ext cx="146304" cy="0"/>
          </a:xfrm>
          <a:prstGeom prst="line">
            <a:avLst/>
          </a:prstGeom>
          <a:ln w="22225">
            <a:solidFill>
              <a:srgbClr val="8F9D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074920" y="3337560"/>
            <a:ext cx="2057400" cy="251460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74920" y="3337560"/>
            <a:ext cx="2057400" cy="64008"/>
          </a:xfrm>
          <a:prstGeom prst="rect">
            <a:avLst/>
          </a:prstGeom>
          <a:solidFill>
            <a:srgbClr val="F5B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57800" y="356616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5B03A"/>
                </a:solidFill>
                <a:latin typeface="Segoe U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384048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ECF1F9"/>
                </a:solidFill>
                <a:latin typeface="Segoe UI"/>
              </a:rPr>
              <a:t>Decide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4389120"/>
            <a:ext cx="1691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9DB8"/>
                </a:solidFill>
                <a:latin typeface="Segoe UI"/>
              </a:rPr>
              <a:t>Maximise expected incremental profit under the company's policy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50608" y="4572000"/>
            <a:ext cx="146304" cy="0"/>
          </a:xfrm>
          <a:prstGeom prst="line">
            <a:avLst/>
          </a:prstGeom>
          <a:ln w="22225">
            <a:solidFill>
              <a:srgbClr val="8F9D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15200" y="3337560"/>
            <a:ext cx="2057400" cy="251460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15200" y="3337560"/>
            <a:ext cx="2057400" cy="64008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79" y="356616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0A5FA"/>
                </a:solidFill>
                <a:latin typeface="Segoe UI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384048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ECF1F9"/>
                </a:solidFill>
                <a:latin typeface="Segoe UI"/>
              </a:rPr>
              <a:t>Simulate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4389120"/>
            <a:ext cx="1691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9DB8"/>
                </a:solidFill>
                <a:latin typeface="Segoe UI"/>
              </a:rPr>
              <a:t>Change budget, stock, price, priorities — decision re-solves live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90888" y="4572000"/>
            <a:ext cx="146304" cy="0"/>
          </a:xfrm>
          <a:prstGeom prst="line">
            <a:avLst/>
          </a:prstGeom>
          <a:ln w="22225">
            <a:solidFill>
              <a:srgbClr val="8F9D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555480" y="3337560"/>
            <a:ext cx="2057400" cy="251460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55480" y="3337560"/>
            <a:ext cx="2057400" cy="6400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38360" y="356616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A78BFA"/>
                </a:solidFill>
                <a:latin typeface="Segoe U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38360" y="384048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ECF1F9"/>
                </a:solidFill>
                <a:latin typeface="Segoe UI"/>
              </a:rPr>
              <a:t>Learn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8360" y="4389120"/>
            <a:ext cx="1691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9DB8"/>
                </a:solidFill>
                <a:latin typeface="Segoe UI"/>
              </a:rPr>
              <a:t>Approve → outcome → error → updated confidence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" y="6035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8F9DB8"/>
                </a:solidFill>
                <a:latin typeface="Segoe UI"/>
              </a:rPr>
              <a:t>A closed-loop decision system — not another reporting layer.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B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5B03A"/>
                </a:solidFill>
                <a:latin typeface="Segoe UI"/>
              </a:rPr>
              <a:t>04  ·  UNIFIED CROSS-PLATFORM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CF1F9"/>
                </a:solidFill>
                <a:latin typeface="Segoe UI"/>
              </a:rPr>
              <a:t>One version of the truth, corrected by real sales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898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9DB8"/>
                </a:solidFill>
                <a:latin typeface="Segoe UI"/>
              </a:rPr>
              <a:t>We regress real SKU sales on platform-reported orders:  units = organic baseline + β · platform orders   (β &lt; 1 = over-count haircut)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F9DB8"/>
                </a:solidFill>
                <a:latin typeface="Segoe UI"/>
              </a:rPr>
              <a:t>AegisOne · Autonomous Marketing CFO · DataQuest 3.0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F9DB8"/>
                </a:solidFill>
                <a:latin typeface="Segoe UI"/>
              </a:rPr>
              <a:t>4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965960"/>
            <a:ext cx="3200400" cy="896112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965960"/>
            <a:ext cx="73152" cy="896112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093976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CF1F9"/>
                </a:solidFill>
                <a:latin typeface="Segoe UI"/>
              </a:rPr>
              <a:t>Meta · Google · Instagram · YouTube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46888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8F9DB8"/>
                </a:solidFill>
                <a:latin typeface="Segoe UI"/>
              </a:rPr>
              <a:t>daily spend, clicks, orders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840480" y="2414015"/>
            <a:ext cx="502920" cy="1197865"/>
          </a:xfrm>
          <a:prstGeom prst="line">
            <a:avLst/>
          </a:prstGeom>
          <a:ln w="22225">
            <a:solidFill>
              <a:srgbClr val="2A385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94360" y="2990088"/>
            <a:ext cx="3200400" cy="896112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2990088"/>
            <a:ext cx="73152" cy="896112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118104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CF1F9"/>
                </a:solidFill>
                <a:latin typeface="Segoe UI"/>
              </a:rPr>
              <a:t>Sales ledger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3493008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8F9DB8"/>
                </a:solidFill>
                <a:latin typeface="Segoe UI"/>
              </a:rPr>
              <a:t>units, revenue, COGS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840480" y="3438144"/>
            <a:ext cx="502920" cy="173736"/>
          </a:xfrm>
          <a:prstGeom prst="line">
            <a:avLst/>
          </a:prstGeom>
          <a:ln w="22225">
            <a:solidFill>
              <a:srgbClr val="2A385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94360" y="4014216"/>
            <a:ext cx="3200400" cy="896112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" y="4014216"/>
            <a:ext cx="73152" cy="896112"/>
          </a:xfrm>
          <a:prstGeom prst="rect">
            <a:avLst/>
          </a:prstGeom>
          <a:solidFill>
            <a:srgbClr val="F5B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142232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CF1F9"/>
                </a:solidFill>
                <a:latin typeface="Segoe UI"/>
              </a:rPr>
              <a:t>Pricing + competitor prices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4517136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8F9DB8"/>
                </a:solidFill>
                <a:latin typeface="Segoe UI"/>
              </a:rPr>
              <a:t>margin, price gap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3840480" y="3611880"/>
            <a:ext cx="502920" cy="850392"/>
          </a:xfrm>
          <a:prstGeom prst="line">
            <a:avLst/>
          </a:prstGeom>
          <a:ln w="22225">
            <a:solidFill>
              <a:srgbClr val="2A385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94360" y="5038344"/>
            <a:ext cx="3200400" cy="896112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5038344"/>
            <a:ext cx="73152" cy="896112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5166359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CF1F9"/>
                </a:solidFill>
                <a:latin typeface="Segoe UI"/>
              </a:rPr>
              <a:t>Inventory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5541264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8F9DB8"/>
                </a:solidFill>
                <a:latin typeface="Segoe UI"/>
              </a:rPr>
              <a:t>on-hand, lead time, shelf life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3840480" y="3611880"/>
            <a:ext cx="502920" cy="1874520"/>
          </a:xfrm>
          <a:prstGeom prst="line">
            <a:avLst/>
          </a:prstGeom>
          <a:ln w="22225">
            <a:solidFill>
              <a:srgbClr val="2A385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4389120" y="2926080"/>
            <a:ext cx="1828800" cy="1371600"/>
          </a:xfrm>
          <a:prstGeom prst="roundRect">
            <a:avLst>
              <a:gd name="adj" fmla="val 6000"/>
            </a:avLst>
          </a:prstGeom>
          <a:solidFill>
            <a:srgbClr val="1A253D"/>
          </a:solidFill>
          <a:ln w="12700">
            <a:solidFill>
              <a:srgbClr val="F5B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0" y="31272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B03A"/>
                </a:solidFill>
                <a:latin typeface="Segoe UI"/>
              </a:rPr>
              <a:t>RECONCILE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3456432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ECF1F9"/>
                </a:solidFill>
                <a:latin typeface="Segoe UI"/>
              </a:rPr>
              <a:t>sklearn regression
per SKU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263640" y="3611880"/>
            <a:ext cx="365760" cy="0"/>
          </a:xfrm>
          <a:prstGeom prst="line">
            <a:avLst/>
          </a:prstGeom>
          <a:ln w="22225">
            <a:solidFill>
              <a:srgbClr val="F5B0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6675120" y="1828800"/>
          <a:ext cx="493776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6675120" y="5120640"/>
            <a:ext cx="2377440" cy="118872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5248655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87171"/>
                </a:solidFill>
                <a:latin typeface="Segoe UI"/>
              </a:rPr>
              <a:t>16%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5833872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F9DB8"/>
                </a:solidFill>
                <a:latin typeface="Segoe UI"/>
              </a:rPr>
              <a:t>more orders claimed than reconciled sales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5120640"/>
            <a:ext cx="2423160" cy="118872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72600" y="5248655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5B03A"/>
                </a:solidFill>
                <a:latin typeface="Segoe UI"/>
              </a:rPr>
              <a:t>6.5 → 5.6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72600" y="5833872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F9DB8"/>
                </a:solidFill>
                <a:latin typeface="Segoe UI"/>
              </a:rPr>
              <a:t>company ROAS: reported → reconciled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08076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F9DB8"/>
                </a:solidFill>
                <a:latin typeface="Segoe UI"/>
              </a:rPr>
              <a:t>Output: unified ROAS, CAC, CTR, CPC, CVR, profit, margin, inventory days, stockout risk.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B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5B03A"/>
                </a:solidFill>
                <a:latin typeface="Segoe UI"/>
              </a:rPr>
              <a:t>05  ·  BUSINESS POLICY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CF1F9"/>
                </a:solidFill>
                <a:latin typeface="Segoe UI"/>
              </a:rPr>
              <a:t>Same campaign. Different company. Different decision.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898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9DB8"/>
                </a:solidFill>
                <a:latin typeface="Segoe UI"/>
              </a:rPr>
              <a:t>Each company's objectives, margins, inventory, CAC, ROAS and risk appetite become a policy the optimizer must obey.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F9DB8"/>
                </a:solidFill>
                <a:latin typeface="Segoe UI"/>
              </a:rPr>
              <a:t>AegisOne · Autonomous Marketing CFO · DataQuest 3.0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F9DB8"/>
                </a:solidFill>
                <a:latin typeface="Segoe UI"/>
              </a:rPr>
              <a:t>5 / 13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02920" y="1874519"/>
          <a:ext cx="539496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468172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F9DB8"/>
                </a:solidFill>
                <a:latin typeface="Segoe UI"/>
              </a:rPr>
              <a:t>OBJECTIVE WEIGHTS ABOVE · GUARDRAILS BELOW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4956048"/>
            <a:ext cx="5440680" cy="137160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02920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5B03A"/>
                </a:solidFill>
                <a:latin typeface="Segoe U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5029200"/>
            <a:ext cx="8412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B03A"/>
                </a:solidFill>
                <a:latin typeface="Segoe UI"/>
              </a:rPr>
              <a:t>Nike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2615" y="5029200"/>
            <a:ext cx="8412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B03A"/>
                </a:solidFill>
                <a:latin typeface="Segoe UI"/>
              </a:rPr>
              <a:t>Samsung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2152" y="5029200"/>
            <a:ext cx="8412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B03A"/>
                </a:solidFill>
                <a:latin typeface="Segoe UI"/>
              </a:rPr>
              <a:t>Lenovo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8" y="5029200"/>
            <a:ext cx="8412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B03A"/>
                </a:solidFill>
                <a:latin typeface="Segoe UI"/>
              </a:rPr>
              <a:t>LV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21224" y="5029200"/>
            <a:ext cx="8412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B03A"/>
                </a:solidFill>
                <a:latin typeface="Segoe UI"/>
              </a:rPr>
              <a:t>Supreme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289804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9DB8"/>
                </a:solidFill>
                <a:latin typeface="Segoe UI"/>
              </a:rPr>
              <a:t>Min margin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5289804"/>
            <a:ext cx="8412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ECF1F9"/>
                </a:solidFill>
                <a:latin typeface="Segoe UI"/>
              </a:rPr>
              <a:t>35%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42615" y="5289804"/>
            <a:ext cx="8412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ECF1F9"/>
                </a:solidFill>
                <a:latin typeface="Segoe UI"/>
              </a:rPr>
              <a:t>18%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2152" y="5289804"/>
            <a:ext cx="8412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ECF1F9"/>
                </a:solidFill>
                <a:latin typeface="Segoe UI"/>
              </a:rPr>
              <a:t>12%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5289804"/>
            <a:ext cx="8412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ECF1F9"/>
                </a:solidFill>
                <a:latin typeface="Segoe UI"/>
              </a:rPr>
              <a:t>55%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21224" y="5289804"/>
            <a:ext cx="8412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ECF1F9"/>
                </a:solidFill>
                <a:latin typeface="Segoe UI"/>
              </a:rPr>
              <a:t>45%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550408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9DB8"/>
                </a:solidFill>
                <a:latin typeface="Segoe UI"/>
              </a:rPr>
              <a:t>Min ROAS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550408"/>
            <a:ext cx="8412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ECF1F9"/>
                </a:solidFill>
                <a:latin typeface="Segoe UI"/>
              </a:rPr>
              <a:t>3.0×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42615" y="5550408"/>
            <a:ext cx="8412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ECF1F9"/>
                </a:solidFill>
                <a:latin typeface="Segoe UI"/>
              </a:rPr>
              <a:t>4.5×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02152" y="5550408"/>
            <a:ext cx="8412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ECF1F9"/>
                </a:solidFill>
                <a:latin typeface="Segoe UI"/>
              </a:rPr>
              <a:t>6.0×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5550408"/>
            <a:ext cx="8412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ECF1F9"/>
                </a:solidFill>
                <a:latin typeface="Segoe UI"/>
              </a:rPr>
              <a:t>3.0×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21224" y="5550408"/>
            <a:ext cx="8412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ECF1F9"/>
                </a:solidFill>
                <a:latin typeface="Segoe UI"/>
              </a:rPr>
              <a:t>3.0×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811012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9DB8"/>
                </a:solidFill>
                <a:latin typeface="Segoe UI"/>
              </a:rPr>
              <a:t>Max CAC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83080" y="5811012"/>
            <a:ext cx="8412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ECF1F9"/>
                </a:solidFill>
                <a:latin typeface="Segoe UI"/>
              </a:rPr>
              <a:t>₹2.8k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42615" y="5811012"/>
            <a:ext cx="8412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ECF1F9"/>
                </a:solidFill>
                <a:latin typeface="Segoe UI"/>
              </a:rPr>
              <a:t>₹3.2k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02152" y="5811012"/>
            <a:ext cx="8412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ECF1F9"/>
                </a:solidFill>
                <a:latin typeface="Segoe UI"/>
              </a:rPr>
              <a:t>₹3.5k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61688" y="5811012"/>
            <a:ext cx="8412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ECF1F9"/>
                </a:solidFill>
                <a:latin typeface="Segoe UI"/>
              </a:rPr>
              <a:t>₹45.0k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21224" y="5811012"/>
            <a:ext cx="8412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ECF1F9"/>
                </a:solidFill>
                <a:latin typeface="Segoe UI"/>
              </a:rPr>
              <a:t>₹3.5k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071616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9DB8"/>
                </a:solidFill>
                <a:latin typeface="Segoe UI"/>
              </a:rPr>
              <a:t>Stock target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83080" y="6071616"/>
            <a:ext cx="8412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ECF1F9"/>
                </a:solidFill>
                <a:latin typeface="Segoe UI"/>
              </a:rPr>
              <a:t>45 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42615" y="6071616"/>
            <a:ext cx="8412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ECF1F9"/>
                </a:solidFill>
                <a:latin typeface="Segoe UI"/>
              </a:rPr>
              <a:t>35 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02152" y="6071616"/>
            <a:ext cx="8412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ECF1F9"/>
                </a:solidFill>
                <a:latin typeface="Segoe UI"/>
              </a:rPr>
              <a:t>40 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61688" y="6071616"/>
            <a:ext cx="8412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ECF1F9"/>
                </a:solidFill>
                <a:latin typeface="Segoe UI"/>
              </a:rPr>
              <a:t>60 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21224" y="6071616"/>
            <a:ext cx="8412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ECF1F9"/>
                </a:solidFill>
                <a:latin typeface="Segoe UI"/>
              </a:rPr>
              <a:t>14 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1874519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F9DB8"/>
                </a:solidFill>
                <a:latin typeface="Segoe UI"/>
              </a:rPr>
              <a:t>ONE NIKE CAMPAIGN SET · FIVE DEMO POLICIES · DAILY BUDGET CHANGE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89520" y="2194560"/>
            <a:ext cx="786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F5B03A"/>
                </a:solidFill>
                <a:latin typeface="Segoe UI"/>
              </a:rPr>
              <a:t>Nike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94192" y="2194560"/>
            <a:ext cx="786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F5B03A"/>
                </a:solidFill>
                <a:latin typeface="Segoe UI"/>
              </a:rPr>
              <a:t>Samsung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98864" y="2194560"/>
            <a:ext cx="786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F5B03A"/>
                </a:solidFill>
                <a:latin typeface="Segoe UI"/>
              </a:rPr>
              <a:t>Lenovo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03536" y="2194560"/>
            <a:ext cx="786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F5B03A"/>
                </a:solidFill>
                <a:latin typeface="Segoe UI"/>
              </a:rPr>
              <a:t>LV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08208" y="2194560"/>
            <a:ext cx="786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F5B03A"/>
                </a:solidFill>
                <a:latin typeface="Segoe UI"/>
              </a:rPr>
              <a:t>Supreme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09360" y="2578608"/>
            <a:ext cx="5303520" cy="621792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2633472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ECF1F9"/>
                </a:solidFill>
                <a:latin typeface="Segoe UI"/>
              </a:rPr>
              <a:t>Nike Zoom Fly·Google·Interest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607808" y="2734056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00" b="1">
                <a:solidFill>
                  <a:srgbClr val="2DD4BF"/>
                </a:solidFill>
                <a:latin typeface="Segoe UI"/>
              </a:rPr>
              <a:t>+₹22k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12480" y="2734056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00" b="1">
                <a:solidFill>
                  <a:srgbClr val="8F9DB8"/>
                </a:solidFill>
                <a:latin typeface="Segoe UI"/>
              </a:rPr>
              <a:t>hold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217152" y="2734056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00" b="1">
                <a:solidFill>
                  <a:srgbClr val="8F9DB8"/>
                </a:solidFill>
                <a:latin typeface="Segoe UI"/>
              </a:rPr>
              <a:t>hold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021824" y="2734056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00" b="1">
                <a:solidFill>
                  <a:srgbClr val="8F9DB8"/>
                </a:solidFill>
                <a:latin typeface="Segoe UI"/>
              </a:rPr>
              <a:t>hold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826496" y="2734056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00" b="1">
                <a:solidFill>
                  <a:srgbClr val="2DD4BF"/>
                </a:solidFill>
                <a:latin typeface="Segoe UI"/>
              </a:rPr>
              <a:t>+₹22k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09360" y="3291839"/>
            <a:ext cx="5303520" cy="621792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0" y="3346703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ECF1F9"/>
                </a:solidFill>
                <a:latin typeface="Segoe UI"/>
              </a:rPr>
              <a:t>Nike Epic React Flyknit 2·Google·Interest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607808" y="3447287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00" b="1">
                <a:solidFill>
                  <a:srgbClr val="8F9DB8"/>
                </a:solidFill>
                <a:latin typeface="Segoe UI"/>
              </a:rPr>
              <a:t>hold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412480" y="3447287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00" b="1">
                <a:solidFill>
                  <a:srgbClr val="8F9DB8"/>
                </a:solidFill>
                <a:latin typeface="Segoe UI"/>
              </a:rPr>
              <a:t>hold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217152" y="3447287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00" b="1">
                <a:solidFill>
                  <a:srgbClr val="8F9DB8"/>
                </a:solidFill>
                <a:latin typeface="Segoe UI"/>
              </a:rPr>
              <a:t>hold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021824" y="3447287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00" b="1">
                <a:solidFill>
                  <a:srgbClr val="F87171"/>
                </a:solidFill>
                <a:latin typeface="Segoe UI"/>
              </a:rPr>
              <a:t>PAUSE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826496" y="3447287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00" b="1">
                <a:solidFill>
                  <a:srgbClr val="F87171"/>
                </a:solidFill>
                <a:latin typeface="Segoe UI"/>
              </a:rPr>
              <a:t>PAUSE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309360" y="4005072"/>
            <a:ext cx="5303520" cy="621792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0" y="4059935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ECF1F9"/>
                </a:solidFill>
                <a:latin typeface="Segoe UI"/>
              </a:rPr>
              <a:t>Nike Free X Metcon 2·Meta·Broad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607808" y="4160520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00" b="1">
                <a:solidFill>
                  <a:srgbClr val="8F9DB8"/>
                </a:solidFill>
                <a:latin typeface="Segoe UI"/>
              </a:rPr>
              <a:t>hold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412480" y="4160520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00" b="1">
                <a:solidFill>
                  <a:srgbClr val="8F9DB8"/>
                </a:solidFill>
                <a:latin typeface="Segoe UI"/>
              </a:rPr>
              <a:t>hold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217152" y="4160520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00" b="1">
                <a:solidFill>
                  <a:srgbClr val="8F9DB8"/>
                </a:solidFill>
                <a:latin typeface="Segoe UI"/>
              </a:rPr>
              <a:t>hold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0021824" y="4160520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00" b="1">
                <a:solidFill>
                  <a:srgbClr val="F87171"/>
                </a:solidFill>
                <a:latin typeface="Segoe UI"/>
              </a:rPr>
              <a:t>PAUSE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826496" y="4160520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00" b="1">
                <a:solidFill>
                  <a:srgbClr val="8F9DB8"/>
                </a:solidFill>
                <a:latin typeface="Segoe UI"/>
              </a:rPr>
              <a:t>hold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309360" y="4718304"/>
            <a:ext cx="5303520" cy="621792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4773168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ECF1F9"/>
                </a:solidFill>
                <a:latin typeface="Segoe UI"/>
              </a:rPr>
              <a:t>Air Jordan 10 Retro·Meta·LAL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607808" y="4873752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00" b="1">
                <a:solidFill>
                  <a:srgbClr val="F87171"/>
                </a:solidFill>
                <a:latin typeface="Segoe UI"/>
              </a:rPr>
              <a:t>−₹12k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412480" y="4873752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00" b="1">
                <a:solidFill>
                  <a:srgbClr val="F87171"/>
                </a:solidFill>
                <a:latin typeface="Segoe UI"/>
              </a:rPr>
              <a:t>−₹9k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217152" y="4873752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00" b="1">
                <a:solidFill>
                  <a:srgbClr val="F87171"/>
                </a:solidFill>
                <a:latin typeface="Segoe UI"/>
              </a:rPr>
              <a:t>−₹9k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021824" y="4873752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00" b="1">
                <a:solidFill>
                  <a:srgbClr val="8F9DB8"/>
                </a:solidFill>
                <a:latin typeface="Segoe UI"/>
              </a:rPr>
              <a:t>hold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826496" y="4873752"/>
            <a:ext cx="731520" cy="310896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900" b="1">
                <a:solidFill>
                  <a:srgbClr val="F87171"/>
                </a:solidFill>
                <a:latin typeface="Segoe UI"/>
              </a:rPr>
              <a:t>−₹12k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309360" y="5577840"/>
            <a:ext cx="5303520" cy="749808"/>
          </a:xfrm>
          <a:prstGeom prst="roundRect">
            <a:avLst>
              <a:gd name="adj" fmla="val 6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92240" y="565099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87171"/>
                </a:solidFill>
                <a:latin typeface="Segoe UI"/>
              </a:rPr>
              <a:t>Lenovo's 6.0× ROAS bar </a:t>
            </a:r>
            <a:r>
              <a:rPr sz="1150" b="0" i="0">
                <a:solidFill>
                  <a:srgbClr val="ECF1F9"/>
                </a:solidFill>
                <a:latin typeface="Segoe UI"/>
              </a:rPr>
              <a:t>cuts hardest; </a:t>
            </a:r>
            <a:r>
              <a:rPr sz="1150" b="1" i="0">
                <a:solidFill>
                  <a:srgbClr val="2DD4BF"/>
                </a:solidFill>
                <a:latin typeface="Segoe UI"/>
              </a:rPr>
              <a:t>Nike's growth weight </a:t>
            </a:r>
            <a:r>
              <a:rPr sz="1150" b="0" i="0">
                <a:solidFill>
                  <a:srgbClr val="ECF1F9"/>
                </a:solidFill>
                <a:latin typeface="Segoe UI"/>
              </a:rPr>
              <a:t>keeps funding prospecting. Demo policies, same data, different CFO.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B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5B03A"/>
                </a:solidFill>
                <a:latin typeface="Segoe UI"/>
              </a:rPr>
              <a:t>06  ·  AI DIAGNOSIS &amp; ROOT CAUSE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CF1F9"/>
                </a:solidFill>
                <a:latin typeface="Segoe UI"/>
              </a:rPr>
              <a:t>Not just “ROAS dropped” — why, how sure, and what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898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9DB8"/>
                </a:solidFill>
                <a:latin typeface="Segoe UI"/>
              </a:rPr>
              <a:t>Live demo anomaly: Air Jordan 10 Retro · Meta · Lookalike 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F9DB8"/>
                </a:solidFill>
                <a:latin typeface="Segoe UI"/>
              </a:rPr>
              <a:t>AegisOne · Autonomous Marketing CFO · DataQuest 3.0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F9DB8"/>
                </a:solidFill>
                <a:latin typeface="Segoe UI"/>
              </a:rPr>
              <a:t>6 / 13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02920" y="1828800"/>
          <a:ext cx="649224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4406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9DB8"/>
                </a:solidFill>
                <a:latin typeface="Segoe UI"/>
              </a:rPr>
              <a:t>Indexed to the 25-day baseline = 100 (last 45 days)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5806440"/>
            <a:ext cx="1508760" cy="411480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87171"/>
                </a:solidFill>
                <a:latin typeface="Segoe UI"/>
              </a:rPr>
              <a:t>CTR -48%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21992" y="5806440"/>
            <a:ext cx="1508760" cy="411480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87171"/>
                </a:solidFill>
                <a:latin typeface="Segoe UI"/>
              </a:rPr>
              <a:t>CPC +111%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9624" y="5806440"/>
            <a:ext cx="1508760" cy="411480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8F9DB8"/>
                </a:solidFill>
                <a:latin typeface="Segoe UI"/>
              </a:rPr>
              <a:t>Conversion +1%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77256" y="5806440"/>
            <a:ext cx="1508760" cy="411480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F5B03A"/>
                </a:solidFill>
                <a:latin typeface="Segoe UI"/>
              </a:rPr>
              <a:t>Frequency +155%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9480" y="1828800"/>
            <a:ext cx="4343400" cy="443484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79" y="201168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87171"/>
                </a:solidFill>
                <a:latin typeface="Segoe UI"/>
              </a:rPr>
              <a:t>WHAT HAPPENED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2258568"/>
            <a:ext cx="3931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CF1F9"/>
                </a:solidFill>
                <a:latin typeface="Segoe UI"/>
              </a:rPr>
              <a:t>ROAS fell 52% (from 7.16 to 3.43). CTR dropped 48% and CPC rose 111% while conversion rate held (+1%). Frequency is up 155% on a 49-day-old creative.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3035808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5B03A"/>
                </a:solidFill>
                <a:latin typeface="Segoe UI"/>
              </a:rPr>
              <a:t>PROBABLE CAUSE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3282696"/>
            <a:ext cx="3931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CF1F9"/>
                </a:solidFill>
                <a:latin typeface="Segoe UI"/>
              </a:rPr>
              <a:t>Creative fatigue (audience has seen the ad too often)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4059936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2DD4BF"/>
                </a:solidFill>
                <a:latin typeface="Segoe UI"/>
              </a:rPr>
              <a:t>CONFIDENCE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306824"/>
            <a:ext cx="3931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CF1F9"/>
                </a:solidFill>
                <a:latin typeface="Segoe UI"/>
              </a:rPr>
              <a:t>95%  —  CTR collapse + frequency surge + flat conversion + 49-day-old creative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5084064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60A5FA"/>
                </a:solidFill>
                <a:latin typeface="Segoe UI"/>
              </a:rPr>
              <a:t>RECOMMENDED 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5330952"/>
            <a:ext cx="3931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CF1F9"/>
                </a:solidFill>
                <a:latin typeface="Segoe UI"/>
              </a:rPr>
              <a:t>Replace the creative and pull budget toward higher-marginal-return campaigns until it recovers.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594360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8F9DB8"/>
                </a:solidFill>
                <a:latin typeface="Segoe UI"/>
              </a:rPr>
              <a:t>Rival hypotheses are scored too — fatigue beats auction pressure and post-click issues.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B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5B03A"/>
                </a:solidFill>
                <a:latin typeface="Segoe UI"/>
              </a:rPr>
              <a:t>07  ·  BUDGET DECISION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CF1F9"/>
                </a:solidFill>
                <a:latin typeface="Segoe UI"/>
              </a:rPr>
              <a:t>Move ₹11,000/day — and it earns ₹23,536/day more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898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9DB8"/>
                </a:solidFill>
                <a:latin typeface="Segoe UI"/>
              </a:rPr>
              <a:t>Maximise expected incremental profit, tilted by company policy, inside hard guardrails (min ROAS, max CAC, min margin, safe stock).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F9DB8"/>
                </a:solidFill>
                <a:latin typeface="Segoe UI"/>
              </a:rPr>
              <a:t>AegisOne · Autonomous Marketing CFO · DataQuest 3.0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F9DB8"/>
                </a:solidFill>
                <a:latin typeface="Segoe UI"/>
              </a:rPr>
              <a:t>7 / 13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02920" y="1874519"/>
          <a:ext cx="667512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452360" y="1874519"/>
            <a:ext cx="4160520" cy="1783080"/>
          </a:xfrm>
          <a:prstGeom prst="roundRect">
            <a:avLst>
              <a:gd name="adj" fmla="val 6000"/>
            </a:avLst>
          </a:prstGeom>
          <a:solidFill>
            <a:srgbClr val="1A253D"/>
          </a:solidFill>
          <a:ln w="12700">
            <a:solidFill>
              <a:srgbClr val="F5B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201168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5B03A"/>
                </a:solidFill>
                <a:latin typeface="Segoe UI"/>
              </a:rPr>
              <a:t>TOP DECISION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7490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CF1F9"/>
                </a:solidFill>
                <a:latin typeface="Segoe UI"/>
              </a:rPr>
              <a:t>₹11,000/day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852928"/>
            <a:ext cx="3749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8F9DB8"/>
                </a:solidFill>
                <a:latin typeface="Segoe UI"/>
              </a:rPr>
              <a:t>Air Jordan 10 Retro·Meta·LAL</a:t>
            </a:r>
          </a:p>
          <a:p>
            <a:pPr algn="l"/>
            <a:r>
              <a:rPr sz="1150" b="0" i="0">
                <a:solidFill>
                  <a:srgbClr val="8F9DB8"/>
                </a:solidFill>
                <a:latin typeface="Segoe UI"/>
              </a:rPr>
              <a:t>→ Nike Zoom Fly·Google·Interest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3794760"/>
            <a:ext cx="2011680" cy="109728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3922776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87171"/>
                </a:solidFill>
                <a:latin typeface="Segoe UI"/>
              </a:rPr>
              <a:t>2.2×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07992"/>
            <a:ext cx="164592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F9DB8"/>
                </a:solidFill>
                <a:latin typeface="Segoe UI"/>
              </a:rPr>
              <a:t>marginal ROAS, fatigued source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0" y="3794760"/>
            <a:ext cx="2011680" cy="109728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0" y="3922776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DD4BF"/>
                </a:solidFill>
                <a:latin typeface="Segoe UI"/>
              </a:rPr>
              <a:t>6.5×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4507992"/>
            <a:ext cx="164592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F9DB8"/>
                </a:solidFill>
                <a:latin typeface="Segoe UI"/>
              </a:rPr>
              <a:t>marginal ROAS, target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52360" y="5029200"/>
            <a:ext cx="4160520" cy="128016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35240" y="512064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8F9DB8"/>
                </a:solidFill>
                <a:latin typeface="Segoe UI"/>
              </a:rPr>
              <a:t>WHY THIS BEAT THE ALTERNATIVES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40" y="539496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CF1F9"/>
                </a:solidFill>
                <a:latin typeface="Segoe UI"/>
              </a:rPr>
              <a:t>• 50% unit margin, 41 days of stock cover</a:t>
            </a:r>
          </a:p>
          <a:p>
            <a:pPr algn="l"/>
            <a:r>
              <a:rPr sz="1050" b="0" i="0">
                <a:solidFill>
                  <a:srgbClr val="ECF1F9"/>
                </a:solidFill>
                <a:latin typeface="Segoe UI"/>
              </a:rPr>
              <a:t>• Nike demo policy: profitability 24%, risk 15%</a:t>
            </a:r>
          </a:p>
          <a:p>
            <a:pPr algn="l"/>
            <a:r>
              <a:rPr sz="1050" b="0" i="0">
                <a:solidFill>
                  <a:srgbClr val="ECF1F9"/>
                </a:solidFill>
                <a:latin typeface="Segoe UI"/>
              </a:rPr>
              <a:t>• Plan total: +₹81,819/day at the same total spend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B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5B03A"/>
                </a:solidFill>
                <a:latin typeface="Segoe UI"/>
              </a:rPr>
              <a:t>08  ·  WHAT-IF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CF1F9"/>
                </a:solidFill>
                <a:latin typeface="Segoe UI"/>
              </a:rPr>
              <a:t>Change the business. The decision re-solves instantly.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898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9DB8"/>
                </a:solidFill>
                <a:latin typeface="Segoe UI"/>
              </a:rPr>
              <a:t>Scenario: a supplier delay leaves only 105 units of Nike Zoom Fly in stock (from 984).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F9DB8"/>
                </a:solidFill>
                <a:latin typeface="Segoe UI"/>
              </a:rPr>
              <a:t>AegisOne · Autonomous Marketing CFO · DataQuest 3.0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F9DB8"/>
                </a:solidFill>
                <a:latin typeface="Segoe UI"/>
              </a:rPr>
              <a:t>8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920240"/>
            <a:ext cx="5029200" cy="329184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920240"/>
            <a:ext cx="5029200" cy="640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DD4BF"/>
                </a:solidFill>
                <a:latin typeface="Segoe UI"/>
              </a:rPr>
              <a:t>BEFORE  ·  stock healthy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14600"/>
            <a:ext cx="44805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ECF1F9"/>
                </a:solidFill>
                <a:latin typeface="Segoe UI"/>
              </a:rPr>
              <a:t>Move ₹11,000/day
Air Jordan 10 Retro·Meta·LAL
→ Nike Zoom Fly·Google·Interest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57600"/>
            <a:ext cx="4480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9DB8"/>
                </a:solidFill>
                <a:latin typeface="Segoe UI"/>
              </a:rPr>
              <a:t>Nike Zoom Fly has 41 days of cover; scaling it is safe.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434840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2DD4BF"/>
                </a:solidFill>
                <a:latin typeface="Segoe UI"/>
              </a:rPr>
              <a:t>+₹23,536/day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760720" y="3566160"/>
            <a:ext cx="640080" cy="0"/>
          </a:xfrm>
          <a:prstGeom prst="line">
            <a:avLst/>
          </a:prstGeom>
          <a:ln w="38100">
            <a:solidFill>
              <a:srgbClr val="F5B0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596128" y="30632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F5B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0A101E"/>
                </a:solidFill>
                <a:latin typeface="Segoe UI"/>
              </a:rPr>
              <a:t>RE-SOLVE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1920240"/>
            <a:ext cx="5074920" cy="329184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37960" y="1920240"/>
            <a:ext cx="5074920" cy="64008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12280" y="2194560"/>
            <a:ext cx="4526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87171"/>
                </a:solidFill>
                <a:latin typeface="Segoe UI"/>
              </a:rPr>
              <a:t>AFTER  ·  stock critical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2514600"/>
            <a:ext cx="4526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ECF1F9"/>
                </a:solidFill>
                <a:latin typeface="Segoe UI"/>
              </a:rPr>
              <a:t>Move ₹12,000/day
Air Jordan 10 Retro·Meta·LAL
→ Air Jordan 10 Retro·Google·RT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3657600"/>
            <a:ext cx="4526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9DB8"/>
                </a:solidFill>
                <a:latin typeface="Segoe UI"/>
              </a:rPr>
              <a:t>Nike Zoom Fly has 4.4 days of cover vs a 25-day restock — scaling would stock out.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4434840"/>
            <a:ext cx="4526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5B03A"/>
                </a:solidFill>
                <a:latin typeface="Segoe UI"/>
              </a:rPr>
              <a:t>+₹16,649/day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4406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8F9DB8"/>
                </a:solidFill>
                <a:latin typeface="Segoe UI"/>
              </a:rPr>
              <a:t>LEVERS YOU CAN PULL LIVE IN THE SIMULATOR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5760720"/>
            <a:ext cx="1737360" cy="411480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ECF1F9"/>
                </a:solidFill>
                <a:latin typeface="Segoe UI"/>
              </a:rPr>
              <a:t>Total budget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50591" y="5760720"/>
            <a:ext cx="1737360" cy="411480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ECF1F9"/>
                </a:solidFill>
                <a:latin typeface="Segoe UI"/>
              </a:rPr>
              <a:t>Inventory (per SKU)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06824" y="5760720"/>
            <a:ext cx="1737360" cy="411480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ECF1F9"/>
                </a:solidFill>
                <a:latin typeface="Segoe UI"/>
              </a:rPr>
              <a:t>Price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63056" y="5760720"/>
            <a:ext cx="1737360" cy="411480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ECF1F9"/>
                </a:solidFill>
                <a:latin typeface="Segoe UI"/>
              </a:rPr>
              <a:t>Unit cost / margin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19288" y="5760720"/>
            <a:ext cx="1737360" cy="411480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ECF1F9"/>
                </a:solidFill>
                <a:latin typeface="Segoe UI"/>
              </a:rPr>
              <a:t>Company priorities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75519" y="5760720"/>
            <a:ext cx="1737360" cy="411480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100" b="1">
                <a:solidFill>
                  <a:srgbClr val="ECF1F9"/>
                </a:solidFill>
                <a:latin typeface="Segoe UI"/>
              </a:rPr>
              <a:t>Guardrails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B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5B03A"/>
                </a:solidFill>
                <a:latin typeface="Segoe UI"/>
              </a:rPr>
              <a:t>09  ·  CLOSED-LOOP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CF1F9"/>
                </a:solidFill>
                <a:latin typeface="Segoe UI"/>
              </a:rPr>
              <a:t>Every approved decision is scored against reality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898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9DB8"/>
                </a:solidFill>
                <a:latin typeface="Segoe UI"/>
              </a:rPr>
              <a:t>prediction → action → actual outcome → error → updated confidence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F9DB8"/>
                </a:solidFill>
                <a:latin typeface="Segoe UI"/>
              </a:rPr>
              <a:t>AegisOne · Autonomous Marketing CFO · DataQuest 3.0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F9DB8"/>
                </a:solidFill>
                <a:latin typeface="Segoe UI"/>
              </a:rPr>
              <a:t>9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011680"/>
            <a:ext cx="2011680" cy="173736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2011680"/>
            <a:ext cx="2011680" cy="64008"/>
          </a:xfrm>
          <a:prstGeom prst="rect">
            <a:avLst/>
          </a:prstGeom>
          <a:solidFill>
            <a:srgbClr val="F5B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2402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5B03A"/>
                </a:solidFill>
                <a:latin typeface="Segoe UI"/>
              </a:rPr>
              <a:t>01  PREDICT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97480"/>
            <a:ext cx="1691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ECF1F9"/>
                </a:solidFill>
                <a:latin typeface="Segoe UI"/>
              </a:rPr>
              <a:t>+₹23,536/day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24328" y="2880360"/>
            <a:ext cx="192024" cy="0"/>
          </a:xfrm>
          <a:prstGeom prst="line">
            <a:avLst/>
          </a:prstGeom>
          <a:ln w="22225">
            <a:solidFill>
              <a:srgbClr val="8F9D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34640" y="2011680"/>
            <a:ext cx="2011680" cy="173736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34640" y="2011680"/>
            <a:ext cx="2011680" cy="64008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17520" y="22402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A5FA"/>
                </a:solidFill>
                <a:latin typeface="Segoe UI"/>
              </a:rPr>
              <a:t>02  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2697480"/>
            <a:ext cx="1691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ECF1F9"/>
                </a:solidFill>
                <a:latin typeface="Segoe UI"/>
              </a:rPr>
              <a:t>Approved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64608" y="2880360"/>
            <a:ext cx="192024" cy="0"/>
          </a:xfrm>
          <a:prstGeom prst="line">
            <a:avLst/>
          </a:prstGeom>
          <a:ln w="22225">
            <a:solidFill>
              <a:srgbClr val="8F9D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074920" y="2011680"/>
            <a:ext cx="2011680" cy="173736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74920" y="2011680"/>
            <a:ext cx="2011680" cy="640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57800" y="22402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DD4BF"/>
                </a:solidFill>
                <a:latin typeface="Segoe UI"/>
              </a:rPr>
              <a:t>03  OBSERVE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2697480"/>
            <a:ext cx="1691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ECF1F9"/>
                </a:solidFill>
                <a:latin typeface="Segoe UI"/>
              </a:rPr>
              <a:t>+₹19,508/day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04888" y="2880360"/>
            <a:ext cx="192024" cy="0"/>
          </a:xfrm>
          <a:prstGeom prst="line">
            <a:avLst/>
          </a:prstGeom>
          <a:ln w="22225">
            <a:solidFill>
              <a:srgbClr val="8F9D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315200" y="2011680"/>
            <a:ext cx="2011680" cy="173736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0" y="2011680"/>
            <a:ext cx="2011680" cy="64008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79" y="22402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87171"/>
                </a:solidFill>
                <a:latin typeface="Segoe UI"/>
              </a:rPr>
              <a:t>04  ERROR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2697480"/>
            <a:ext cx="1691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ECF1F9"/>
                </a:solidFill>
                <a:latin typeface="Segoe UI"/>
              </a:rPr>
              <a:t>-17.1%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345168" y="2880360"/>
            <a:ext cx="192024" cy="0"/>
          </a:xfrm>
          <a:prstGeom prst="line">
            <a:avLst/>
          </a:prstGeom>
          <a:ln w="22225">
            <a:solidFill>
              <a:srgbClr val="8F9D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555480" y="2011680"/>
            <a:ext cx="2011680" cy="173736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555480" y="2011680"/>
            <a:ext cx="2011680" cy="6400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38360" y="22402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A78BFA"/>
                </a:solidFill>
                <a:latin typeface="Segoe UI"/>
              </a:rPr>
              <a:t>05  RECALIBRATE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38360" y="2697480"/>
            <a:ext cx="1691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ECF1F9"/>
                </a:solidFill>
                <a:latin typeface="Segoe UI"/>
              </a:rPr>
              <a:t>89% → 87%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1247120" y="3840480"/>
            <a:ext cx="0" cy="320040"/>
          </a:xfrm>
          <a:prstGeom prst="line">
            <a:avLst/>
          </a:prstGeom>
          <a:ln w="22225">
            <a:solidFill>
              <a:srgbClr val="A78BF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914400" y="4160520"/>
            <a:ext cx="10332720" cy="0"/>
          </a:xfrm>
          <a:prstGeom prst="line">
            <a:avLst/>
          </a:prstGeom>
          <a:ln w="22225">
            <a:solidFill>
              <a:srgbClr val="A78BF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914400" y="3840480"/>
            <a:ext cx="0" cy="320040"/>
          </a:xfrm>
          <a:prstGeom prst="line">
            <a:avLst/>
          </a:prstGeom>
          <a:ln w="22225">
            <a:solidFill>
              <a:srgbClr val="A78BF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4754880" y="3995928"/>
            <a:ext cx="2743200" cy="329184"/>
          </a:xfrm>
          <a:prstGeom prst="roundRect">
            <a:avLst>
              <a:gd name="adj" fmla="val 50000"/>
            </a:avLst>
          </a:prstGeom>
          <a:solidFill>
            <a:srgbClr val="0A101E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1000" b="1">
                <a:solidFill>
                  <a:srgbClr val="A78BFA"/>
                </a:solidFill>
                <a:latin typeface="Segoe UI"/>
              </a:rPr>
              <a:t>feeds the next recommendation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4572000"/>
            <a:ext cx="5486400" cy="169164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68172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8F9DB8"/>
                </a:solidFill>
                <a:latin typeface="Segoe UI"/>
              </a:rPr>
              <a:t>WHAT IS STORED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4983480"/>
            <a:ext cx="5029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ECF1F9"/>
                </a:solidFill>
                <a:latin typeface="Segoe UI"/>
              </a:rPr>
              <a:t>• recommendation + policy + confidence</a:t>
            </a:r>
          </a:p>
          <a:p>
            <a:pPr algn="l"/>
            <a:r>
              <a:rPr sz="1150" b="0" i="0">
                <a:solidFill>
                  <a:srgbClr val="ECF1F9"/>
                </a:solidFill>
                <a:latin typeface="Segoe UI"/>
              </a:rPr>
              <a:t>• simulated outcome and signed error</a:t>
            </a:r>
          </a:p>
          <a:p>
            <a:pPr algn="l"/>
            <a:r>
              <a:rPr sz="1150" b="0" i="0">
                <a:solidFill>
                  <a:srgbClr val="ECF1F9"/>
                </a:solidFill>
                <a:latin typeface="Segoe UI"/>
              </a:rPr>
              <a:t>• per-type calibration (EMA of 1 − |error|)</a:t>
            </a:r>
          </a:p>
          <a:p>
            <a:pPr algn="l"/>
            <a:r>
              <a:rPr sz="1150" b="0" i="0">
                <a:solidFill>
                  <a:srgbClr val="ECF1F9"/>
                </a:solidFill>
                <a:latin typeface="Segoe UI"/>
              </a:rPr>
              <a:t>• seeded history: 6 past decisions per brand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09360" y="4572000"/>
            <a:ext cx="5303520" cy="169164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37960" y="4681728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8F9DB8"/>
                </a:solidFill>
                <a:latin typeface="Segoe UI"/>
              </a:rPr>
              <a:t>WHY IT MATTERS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37960" y="4983480"/>
            <a:ext cx="48463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ECF1F9"/>
                </a:solidFill>
                <a:latin typeface="Segoe UI"/>
              </a:rPr>
              <a:t>Confidence is earned, not asserted. Move-budget calls that over-promised get discounted next time; reliable action types gain trust — so the CFO gets calibrated, not just confident.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B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5B03A"/>
                </a:solidFill>
                <a:latin typeface="Segoe UI"/>
              </a:rPr>
              <a:t>10  · 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CF1F9"/>
                </a:solidFill>
                <a:latin typeface="Segoe UI"/>
              </a:rPr>
              <a:t>Data in, explainable decisions out — fully local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F9DB8"/>
                </a:solidFill>
                <a:latin typeface="Segoe UI"/>
              </a:rPr>
              <a:t>AegisOne · Autonomous Marketing CFO · DataQuest 3.0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F9DB8"/>
                </a:solidFill>
                <a:latin typeface="Segoe UI"/>
              </a:rPr>
              <a:t>10 /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920240"/>
            <a:ext cx="2514600" cy="146304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920240"/>
            <a:ext cx="73152" cy="146304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0574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60A5FA"/>
                </a:solidFill>
                <a:latin typeface="Segoe UI"/>
              </a:rPr>
              <a:t>Public data → simulation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468880"/>
            <a:ext cx="21945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8F9DB8"/>
                </a:solidFill>
                <a:latin typeface="Segoe UI"/>
              </a:rPr>
              <a:t>ingest.py · public catalogs · SQLite
15 tables · 5 brands · simulated ads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36391" y="2651760"/>
            <a:ext cx="173737" cy="0"/>
          </a:xfrm>
          <a:prstGeom prst="line">
            <a:avLst/>
          </a:prstGeom>
          <a:ln w="22225">
            <a:solidFill>
              <a:srgbClr val="8F9D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337560" y="1920240"/>
            <a:ext cx="2514600" cy="146304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920240"/>
            <a:ext cx="73152" cy="146304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3591" y="20574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DD4BF"/>
                </a:solidFill>
                <a:latin typeface="Segoe UI"/>
              </a:rPr>
              <a:t>ML prediction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1" y="2468880"/>
            <a:ext cx="21945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8F9DB8"/>
                </a:solidFill>
                <a:latin typeface="Segoe UI"/>
              </a:rPr>
              <a:t>Poisson GBM conversion signal
bounded multiplier, never the decider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879592" y="2651760"/>
            <a:ext cx="173736" cy="0"/>
          </a:xfrm>
          <a:prstGeom prst="line">
            <a:avLst/>
          </a:prstGeom>
          <a:ln w="22225">
            <a:solidFill>
              <a:srgbClr val="8F9D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080760" y="1920240"/>
            <a:ext cx="2514600" cy="146304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80760" y="1920240"/>
            <a:ext cx="73152" cy="146304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20574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87171"/>
                </a:solidFill>
                <a:latin typeface="Segoe UI"/>
              </a:rPr>
              <a:t>AI diagnosis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6792" y="2468880"/>
            <a:ext cx="21945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8F9DB8"/>
                </a:solidFill>
                <a:latin typeface="Segoe UI"/>
              </a:rPr>
              <a:t>robust z-scores + hypothesis scoring
confidence per cause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3611880"/>
            <a:ext cx="2514600" cy="146304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4360" y="3611880"/>
            <a:ext cx="73152" cy="146304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37490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78BFA"/>
                </a:solidFill>
                <a:latin typeface="Segoe UI"/>
              </a:rPr>
              <a:t>Policy &amp;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" y="4160520"/>
            <a:ext cx="21945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8F9DB8"/>
                </a:solidFill>
                <a:latin typeface="Segoe UI"/>
              </a:rPr>
              <a:t>6 weights + 4 guardrails per brand
margin · ROAS · CAC · stock can override ML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36391" y="4343400"/>
            <a:ext cx="173737" cy="0"/>
          </a:xfrm>
          <a:prstGeom prst="line">
            <a:avLst/>
          </a:prstGeom>
          <a:ln w="22225">
            <a:solidFill>
              <a:srgbClr val="8F9D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3337560" y="3611880"/>
            <a:ext cx="2514600" cy="146304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37560" y="3611880"/>
            <a:ext cx="73152" cy="1463040"/>
          </a:xfrm>
          <a:prstGeom prst="rect">
            <a:avLst/>
          </a:prstGeom>
          <a:solidFill>
            <a:srgbClr val="F5B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93591" y="37490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B03A"/>
                </a:solidFill>
                <a:latin typeface="Segoe UI"/>
              </a:rPr>
              <a:t>Optimizer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93591" y="4160520"/>
            <a:ext cx="21945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8F9DB8"/>
                </a:solidFill>
                <a:latin typeface="Segoe UI"/>
              </a:rPr>
              <a:t>concave marginal-utility greedy
elasticity fit · stock caps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879592" y="4343400"/>
            <a:ext cx="173736" cy="0"/>
          </a:xfrm>
          <a:prstGeom prst="line">
            <a:avLst/>
          </a:prstGeom>
          <a:ln w="22225">
            <a:solidFill>
              <a:srgbClr val="8F9D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080760" y="3611880"/>
            <a:ext cx="2514600" cy="146304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80760" y="3611880"/>
            <a:ext cx="73152" cy="146304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36792" y="37490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DD4BF"/>
                </a:solidFill>
                <a:latin typeface="Segoe UI"/>
              </a:rPr>
              <a:t>What-if &amp; feedback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6792" y="4160520"/>
            <a:ext cx="21945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8F9DB8"/>
                </a:solidFill>
                <a:latin typeface="Segoe UI"/>
              </a:rPr>
              <a:t>re-solve on any override
simulated outcome · calibration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15400" y="1920240"/>
            <a:ext cx="2697480" cy="3154680"/>
          </a:xfrm>
          <a:prstGeom prst="roundRect">
            <a:avLst>
              <a:gd name="adj" fmla="val 6000"/>
            </a:avLst>
          </a:prstGeom>
          <a:solidFill>
            <a:srgbClr val="1A253D"/>
          </a:solidFill>
          <a:ln w="12700">
            <a:solidFill>
              <a:srgbClr val="F5B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98280" y="20574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5B03A"/>
                </a:solidFill>
                <a:latin typeface="Segoe UI"/>
              </a:rPr>
              <a:t>FASTAPI  /api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2423160"/>
            <a:ext cx="23774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CF1F9"/>
                </a:solidFill>
                <a:latin typeface="Segoe UI"/>
              </a:rPr>
              <a:t>/overview  /diagnosis</a:t>
            </a:r>
          </a:p>
          <a:p>
            <a:pPr algn="l"/>
            <a:r>
              <a:rPr sz="1100" b="0" i="0">
                <a:solidFill>
                  <a:srgbClr val="ECF1F9"/>
                </a:solidFill>
                <a:latin typeface="Segoe UI"/>
              </a:rPr>
              <a:t>/plan  /whatif</a:t>
            </a:r>
          </a:p>
          <a:p>
            <a:pPr algn="l"/>
            <a:r>
              <a:rPr sz="1100" b="0" i="0">
                <a:solidFill>
                  <a:srgbClr val="ECF1F9"/>
                </a:solidFill>
                <a:latin typeface="Segoe UI"/>
              </a:rPr>
              <a:t>/policy-compare</a:t>
            </a:r>
          </a:p>
          <a:p>
            <a:pPr algn="l"/>
            <a:r>
              <a:rPr sz="1100" b="0" i="0">
                <a:solidFill>
                  <a:srgbClr val="ECF1F9"/>
                </a:solidFill>
                <a:latin typeface="Segoe UI"/>
              </a:rPr>
              <a:t>/ml/card  /ml/trace</a:t>
            </a:r>
          </a:p>
          <a:p>
            <a:pPr algn="l"/>
            <a:r>
              <a:rPr sz="1100" b="0" i="0">
                <a:solidFill>
                  <a:srgbClr val="ECF1F9"/>
                </a:solidFill>
                <a:latin typeface="Segoe UI"/>
              </a:rPr>
              <a:t>/data-sources  /brands</a:t>
            </a:r>
          </a:p>
          <a:p>
            <a:pPr algn="l"/>
            <a:r>
              <a:rPr sz="1100" b="0" i="0">
                <a:solidFill>
                  <a:srgbClr val="ECF1F9"/>
                </a:solidFill>
                <a:latin typeface="Segoe UI"/>
              </a:rPr>
              <a:t>/recommendations/decide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98280" y="3794760"/>
            <a:ext cx="2331720" cy="1143000"/>
          </a:xfrm>
          <a:prstGeom prst="roundRect">
            <a:avLst>
              <a:gd name="adj" fmla="val 6000"/>
            </a:avLst>
          </a:prstGeom>
          <a:solidFill>
            <a:srgbClr val="0A1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35440" y="38862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DD4BF"/>
                </a:solidFill>
                <a:latin typeface="Segoe UI"/>
              </a:rPr>
              <a:t>REACT + VITE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0" y="4187952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CF1F9"/>
                </a:solidFill>
                <a:latin typeface="Segoe UI"/>
              </a:rPr>
              <a:t>Recharts dashboard
9 views incl. ML Lab, Data Sources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622792" y="4480560"/>
            <a:ext cx="283464" cy="0"/>
          </a:xfrm>
          <a:prstGeom prst="line">
            <a:avLst/>
          </a:prstGeom>
          <a:ln w="22225">
            <a:solidFill>
              <a:srgbClr val="F5B0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594360" y="5394960"/>
            <a:ext cx="11018520" cy="82296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550468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5B03A"/>
                </a:solidFill>
                <a:latin typeface="Segoe UI"/>
              </a:rPr>
              <a:t>Explainability by construction: </a:t>
            </a:r>
            <a:r>
              <a:rPr sz="1200" b="0" i="0">
                <a:solidFill>
                  <a:srgbClr val="ECF1F9"/>
                </a:solidFill>
                <a:latin typeface="Segoe UI"/>
              </a:rPr>
              <a:t>ML predicts an order signal; the deterministic CFO engine (policy, guardrails, optimizer) decides. Every recommendation carries its why, policy drivers, guardrail checks and confidence.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B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5B03A"/>
                </a:solidFill>
                <a:latin typeface="Segoe UI"/>
              </a:rPr>
              <a:t>11  ·  DEMO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CF1F9"/>
                </a:solidFill>
                <a:latin typeface="Segoe UI"/>
              </a:rPr>
              <a:t>The demo,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898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9DB8"/>
                </a:solidFill>
                <a:latin typeface="Segoe UI"/>
              </a:rPr>
              <a:t>data → diagnosis → decision → what-if → feedback — one deterministic 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F9DB8"/>
                </a:solidFill>
                <a:latin typeface="Segoe UI"/>
              </a:rPr>
              <a:t>AegisOne · Autonomous Marketing CFO · DataQuest 3.0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F9DB8"/>
                </a:solidFill>
                <a:latin typeface="Segoe UI"/>
              </a:rPr>
              <a:t>11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783080"/>
            <a:ext cx="2011680" cy="329184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783080"/>
            <a:ext cx="2011680" cy="640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1168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DD4BF"/>
                </a:solidFill>
                <a:latin typeface="Segoe UI"/>
              </a:rPr>
              <a:t>1 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14600"/>
            <a:ext cx="169164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CF1F9"/>
                </a:solidFill>
                <a:latin typeface="Segoe UI"/>
              </a:rPr>
              <a:t>720 daily ad rows reconciled; platforms over-claim 16%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24328" y="3429000"/>
            <a:ext cx="192024" cy="0"/>
          </a:xfrm>
          <a:prstGeom prst="line">
            <a:avLst/>
          </a:prstGeom>
          <a:ln w="22225">
            <a:solidFill>
              <a:srgbClr val="8F9D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34640" y="1783080"/>
            <a:ext cx="2011680" cy="329184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34640" y="1783080"/>
            <a:ext cx="2011680" cy="64008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17520" y="201168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87171"/>
                </a:solidFill>
                <a:latin typeface="Segoe UI"/>
              </a:rPr>
              <a:t>2  DIAGNOSIS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2514600"/>
            <a:ext cx="169164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CF1F9"/>
                </a:solidFill>
                <a:latin typeface="Segoe UI"/>
              </a:rPr>
              <a:t>Air Jordan 10 Retro · Meta ROAS 7.2→3.4. Creative fatigue, 95% confident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64608" y="3429000"/>
            <a:ext cx="192024" cy="0"/>
          </a:xfrm>
          <a:prstGeom prst="line">
            <a:avLst/>
          </a:prstGeom>
          <a:ln w="22225">
            <a:solidFill>
              <a:srgbClr val="8F9D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074920" y="1783080"/>
            <a:ext cx="2011680" cy="329184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74920" y="1783080"/>
            <a:ext cx="2011680" cy="64008"/>
          </a:xfrm>
          <a:prstGeom prst="rect">
            <a:avLst/>
          </a:prstGeom>
          <a:solidFill>
            <a:srgbClr val="F5B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57800" y="201168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5B03A"/>
                </a:solidFill>
                <a:latin typeface="Segoe UI"/>
              </a:rPr>
              <a:t>3  DECISION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2514600"/>
            <a:ext cx="169164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CF1F9"/>
                </a:solidFill>
                <a:latin typeface="Segoe UI"/>
              </a:rPr>
              <a:t>Move ₹11,000/day to Nike Zoom Fly·Google·Interest. +₹23,536/day, with the why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04888" y="3429000"/>
            <a:ext cx="192024" cy="0"/>
          </a:xfrm>
          <a:prstGeom prst="line">
            <a:avLst/>
          </a:prstGeom>
          <a:ln w="22225">
            <a:solidFill>
              <a:srgbClr val="8F9D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315200" y="1783080"/>
            <a:ext cx="2011680" cy="329184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0" y="1783080"/>
            <a:ext cx="2011680" cy="64008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79" y="201168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60A5FA"/>
                </a:solidFill>
                <a:latin typeface="Segoe UI"/>
              </a:rPr>
              <a:t>4  WHAT-IF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2514600"/>
            <a:ext cx="169164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CF1F9"/>
                </a:solidFill>
                <a:latin typeface="Segoe UI"/>
              </a:rPr>
              <a:t>Nike Zoom Fly stock → 105 units. Decision flips to Air Jordan 10 Retro·Google·RT (₹12,000)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345168" y="3429000"/>
            <a:ext cx="192024" cy="0"/>
          </a:xfrm>
          <a:prstGeom prst="line">
            <a:avLst/>
          </a:prstGeom>
          <a:ln w="22225">
            <a:solidFill>
              <a:srgbClr val="8F9D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555480" y="1783080"/>
            <a:ext cx="2011680" cy="329184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555480" y="1783080"/>
            <a:ext cx="2011680" cy="6400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38360" y="201168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A78BFA"/>
                </a:solidFill>
                <a:latin typeface="Segoe UI"/>
              </a:rPr>
              <a:t>5  FEEDBACK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38360" y="2514600"/>
            <a:ext cx="169164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CF1F9"/>
                </a:solidFill>
                <a:latin typeface="Segoe UI"/>
              </a:rPr>
              <a:t>Approve → outcome ₹19,508 vs ₹23,536 predicted; confidence 89%→87%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5303520"/>
            <a:ext cx="11018520" cy="914400"/>
          </a:xfrm>
          <a:prstGeom prst="roundRect">
            <a:avLst>
              <a:gd name="adj" fmla="val 6000"/>
            </a:avLst>
          </a:prstGeom>
          <a:solidFill>
            <a:srgbClr val="1A253D"/>
          </a:solidFill>
          <a:ln w="12700">
            <a:solidFill>
              <a:srgbClr val="F5B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422392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5B03A"/>
                </a:solidFill>
                <a:latin typeface="Segoe UI"/>
              </a:rPr>
              <a:t>Run it:  </a:t>
            </a:r>
            <a:r>
              <a:rPr sz="1250" b="0" i="0">
                <a:solidFill>
                  <a:srgbClr val="ECF1F9"/>
                </a:solidFill>
                <a:latin typeface="Segoe UI"/>
              </a:rPr>
              <a:t>open the app → </a:t>
            </a:r>
            <a:r>
              <a:rPr sz="1250" b="1" i="0">
                <a:solidFill>
                  <a:srgbClr val="ECF1F9"/>
                </a:solidFill>
                <a:latin typeface="Segoe UI"/>
              </a:rPr>
              <a:t>Guided Demo</a:t>
            </a:r>
            <a:r>
              <a:rPr sz="1250" b="0" i="0">
                <a:solidFill>
                  <a:srgbClr val="ECF1F9"/>
                </a:solidFill>
                <a:latin typeface="Segoe UI"/>
              </a:rPr>
              <a:t> tab. Deterministic — the same numbers every run. Then switch company in the header to see a different policy decide the same moment.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B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5B03A"/>
                </a:solidFill>
                <a:latin typeface="Segoe UI"/>
              </a:rPr>
              <a:t>12  ·  IMPACT &amp;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CF1F9"/>
                </a:solidFill>
                <a:latin typeface="Segoe UI"/>
              </a:rPr>
              <a:t>From reporting to deciding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898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9DB8"/>
                </a:solidFill>
                <a:latin typeface="Segoe UI"/>
              </a:rPr>
              <a:t>Modelled on simulated ad performance for Nike at ₹2.1 L/day — same total spend, smarter allocation. Not a measured result.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F9DB8"/>
                </a:solidFill>
                <a:latin typeface="Segoe UI"/>
              </a:rPr>
              <a:t>AegisOne · Autonomous Marketing CFO · DataQuest 3.0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F9DB8"/>
                </a:solidFill>
                <a:latin typeface="Segoe UI"/>
              </a:rPr>
              <a:t>12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920240"/>
            <a:ext cx="3566160" cy="128016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48256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5B03A"/>
                </a:solidFill>
                <a:latin typeface="Segoe UI"/>
              </a:rPr>
              <a:t>+₹81,819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33472"/>
            <a:ext cx="320040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F9DB8"/>
                </a:solidFill>
                <a:latin typeface="Segoe UI"/>
              </a:rPr>
              <a:t>incremental profit per day identified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920240"/>
            <a:ext cx="3566160" cy="128016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2048256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DD4BF"/>
                </a:solidFill>
                <a:latin typeface="Segoe UI"/>
              </a:rPr>
              <a:t>≈ ₹24.5 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633472"/>
            <a:ext cx="320040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F9DB8"/>
                </a:solidFill>
                <a:latin typeface="Segoe UI"/>
              </a:rPr>
              <a:t>per 30 days — with ₹0 extra ad budget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1920240"/>
            <a:ext cx="3611880" cy="128016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204825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60A5FA"/>
                </a:solidFill>
                <a:latin typeface="Segoe UI"/>
              </a:rPr>
              <a:t>6 actions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2633472"/>
            <a:ext cx="3246120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F9DB8"/>
                </a:solidFill>
                <a:latin typeface="Segoe UI"/>
              </a:rPr>
              <a:t>each with a why, confidence and guardrail check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429000"/>
            <a:ext cx="2651760" cy="123444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6616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B03A"/>
                </a:solidFill>
                <a:latin typeface="Segoe UI"/>
              </a:rPr>
              <a:t>Cross-platform truth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950208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F9DB8"/>
                </a:solidFill>
                <a:latin typeface="Segoe UI"/>
              </a:rPr>
              <a:t>reconciled attribution, one ROAS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74136" y="3429000"/>
            <a:ext cx="2651760" cy="123444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57016" y="356616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B03A"/>
                </a:solidFill>
                <a:latin typeface="Segoe UI"/>
              </a:rPr>
              <a:t>Policy-aware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57016" y="3950208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F9DB8"/>
                </a:solidFill>
                <a:latin typeface="Segoe UI"/>
              </a:rPr>
              <a:t>5 brands → 5 different CFOs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3429000"/>
            <a:ext cx="2651760" cy="123444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36792" y="356616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B03A"/>
                </a:solidFill>
                <a:latin typeface="Segoe UI"/>
              </a:rPr>
              <a:t>Explainable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6792" y="3950208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F9DB8"/>
                </a:solidFill>
                <a:latin typeface="Segoe UI"/>
              </a:rPr>
              <a:t>anomaly → cause → confidence → action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33688" y="3429000"/>
            <a:ext cx="2651760" cy="123444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16568" y="356616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B03A"/>
                </a:solidFill>
                <a:latin typeface="Segoe UI"/>
              </a:rPr>
              <a:t>Self-correcting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16568" y="3950208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F9DB8"/>
                </a:solidFill>
                <a:latin typeface="Segoe UI"/>
              </a:rPr>
              <a:t>feedback recalibrates confidence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892040"/>
            <a:ext cx="11018520" cy="1325880"/>
          </a:xfrm>
          <a:prstGeom prst="roundRect">
            <a:avLst>
              <a:gd name="adj" fmla="val 6000"/>
            </a:avLst>
          </a:prstGeom>
          <a:solidFill>
            <a:srgbClr val="1A253D"/>
          </a:solidFill>
          <a:ln w="12700">
            <a:solidFill>
              <a:srgbClr val="F5B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02920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ECF1F9"/>
                </a:solidFill>
                <a:latin typeface="Segoe UI"/>
              </a:rPr>
              <a:t>“Instead of telling a company what happened, our AI Marketing CFO decides where the next ₹1 of advertising spend should go.”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76072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8F9DB8"/>
                </a:solidFill>
                <a:latin typeface="Segoe UI"/>
              </a:rPr>
              <a:t>Next: live ad-API connectors · multi-touch &amp; incrementality tests · bandit exploration · creative generation.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B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5B03A"/>
                </a:solidFill>
                <a:latin typeface="Segoe UI"/>
              </a:rPr>
              <a:t>13  ·  APPENDIX · ML LAYER &amp; DATA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ECF1F9"/>
                </a:solidFill>
                <a:latin typeface="Segoe UI"/>
              </a:rPr>
              <a:t>ML predicts. The CFO decides.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898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9DB8"/>
                </a:solidFill>
                <a:latin typeface="Segoe UI"/>
              </a:rPr>
              <a:t>PUBLIC DATA → INGESTION → ML PREDICTION → POLICY → GUARDRAILS → PORTFOLIO OPTIMIZER → NEXT ₹1 → SIMULATION → APPROVAL → FEEDBACK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F9DB8"/>
                </a:solidFill>
                <a:latin typeface="Segoe UI"/>
              </a:rPr>
              <a:t>AegisOne · Autonomous Marketing CFO · DataQuest 3.0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8F9DB8"/>
                </a:solidFill>
                <a:latin typeface="Segoe UI"/>
              </a:rPr>
              <a:t>13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920240"/>
            <a:ext cx="5486400" cy="429768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574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5B03A"/>
                </a:solidFill>
                <a:latin typeface="Segoe UI"/>
              </a:rPr>
              <a:t>THE MODEL (from model_card.json)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23160"/>
            <a:ext cx="5029200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ECF1F9"/>
                </a:solidFill>
                <a:latin typeface="Segoe UI"/>
              </a:rPr>
              <a:t>• Conversion Propensity Model v1.0: HistGradientBoosting (Poisson, depth 2)</a:t>
            </a:r>
          </a:p>
          <a:p>
            <a:pPr algn="l"/>
            <a:r>
              <a:rPr sz="1150" b="0" i="0">
                <a:solidFill>
                  <a:srgbClr val="ECF1F9"/>
                </a:solidFill>
                <a:latin typeface="Segoe UI"/>
              </a:rPr>
              <a:t>• Trained on 936 public Facebook-ad records; target: approved_conversions / clicks (click-weighted)</a:t>
            </a:r>
          </a:p>
          <a:p>
            <a:pPr algn="l"/>
            <a:r>
              <a:rPr sz="1150" b="0" i="0">
                <a:solidFill>
                  <a:srgbClr val="ECF1F9"/>
                </a:solidFill>
                <a:latin typeface="Segoe UI"/>
              </a:rPr>
              <a:t>• 4 scale-free funnel features; top feature: Impression volume vs median (92% of importance)</a:t>
            </a:r>
          </a:p>
          <a:p>
            <a:pPr algn="l"/>
            <a:r>
              <a:rPr sz="1150" b="0" i="0">
                <a:solidFill>
                  <a:srgbClr val="ECF1F9"/>
                </a:solidFill>
                <a:latin typeface="Segoe UI"/>
              </a:rPr>
              <a:t>• 5-fold CV deviance 0.11323 vs baseline 0.12147 (−6.79%): weak but measurable</a:t>
            </a:r>
          </a:p>
          <a:p>
            <a:pPr algn="l"/>
            <a:r>
              <a:rPr sz="1150" b="0" i="0">
                <a:solidFill>
                  <a:srgbClr val="ECF1F9"/>
                </a:solidFill>
                <a:latin typeface="Segoe UI"/>
              </a:rPr>
              <a:t>• Enters the engine as a multiplier of 0.85–1.15× at 35% weight</a:t>
            </a:r>
          </a:p>
          <a:p>
            <a:pPr algn="l"/>
            <a:r>
              <a:rPr sz="1150" b="0" i="0">
                <a:solidFill>
                  <a:srgbClr val="ECF1F9"/>
                </a:solidFill>
                <a:latin typeface="Segoe UI"/>
              </a:rPr>
              <a:t>• Margin, inventory, CAC, ROAS, risk and policy guardrails can override the raw signal</a:t>
            </a:r>
          </a:p>
          <a:p>
            <a:pPr algn="l"/>
            <a:r>
              <a:rPr sz="1150" b="0" i="0">
                <a:solidFill>
                  <a:srgbClr val="ECF1F9"/>
                </a:solidFill>
                <a:latin typeface="Segoe UI"/>
              </a:rPr>
              <a:t>• The system optimises incremental profit, not raw ROAS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303520" cy="4297680"/>
          </a:xfrm>
          <a:prstGeom prst="roundRect">
            <a:avLst>
              <a:gd name="adj" fmla="val 6000"/>
            </a:avLst>
          </a:prstGeom>
          <a:solidFill>
            <a:srgbClr val="12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5B03A"/>
                </a:solidFill>
                <a:latin typeface="Segoe UI"/>
              </a:rPr>
              <a:t>DATA SOURCES (from sources.json)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423160"/>
            <a:ext cx="48920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CF1F9"/>
                </a:solidFill>
                <a:latin typeface="Segoe UI"/>
              </a:rPr>
              <a:t>• Adidas vs Nike (retail product listings) — CC0: Public Domain</a:t>
            </a:r>
          </a:p>
          <a:p>
            <a:pPr algn="l"/>
            <a:r>
              <a:rPr sz="1000" b="0" i="0">
                <a:solidFill>
                  <a:srgbClr val="ECF1F9"/>
                </a:solidFill>
                <a:latin typeface="Segoe UI"/>
              </a:rPr>
              <a:t>• Flipkart Mobile Dataset — CC0: Public Domain</a:t>
            </a:r>
          </a:p>
          <a:p>
            <a:pPr algn="l"/>
            <a:r>
              <a:rPr sz="1000" b="0" i="0">
                <a:solidFill>
                  <a:srgbClr val="ECF1F9"/>
                </a:solidFill>
                <a:latin typeface="Segoe UI"/>
              </a:rPr>
              <a:t>• Flipkart India Laptops under ₹75,000 — CC0: Public Domain</a:t>
            </a:r>
          </a:p>
          <a:p>
            <a:pPr algn="l"/>
            <a:r>
              <a:rPr sz="1000" b="0" i="0">
                <a:solidFill>
                  <a:srgbClr val="ECF1F9"/>
                </a:solidFill>
                <a:latin typeface="Segoe UI"/>
              </a:rPr>
              <a:t>• Louis Vuitton product price list — France (Data Boutique) — Unknown (stated 'unknown' on the dataset card — used here only for product names/prices context)</a:t>
            </a:r>
          </a:p>
          <a:p>
            <a:pPr algn="l"/>
            <a:r>
              <a:rPr sz="1000" b="0" i="0">
                <a:solidFill>
                  <a:srgbClr val="ECF1F9"/>
                </a:solidFill>
                <a:latin typeface="Segoe UI"/>
              </a:rPr>
              <a:t>• Sneakers &amp; Streetwear Sales (2022) — Apache 2.0</a:t>
            </a:r>
          </a:p>
          <a:p>
            <a:pPr algn="l"/>
            <a:r>
              <a:rPr sz="1000" b="0" i="0">
                <a:solidFill>
                  <a:srgbClr val="ECF1F9"/>
                </a:solidFill>
                <a:latin typeface="Segoe UI"/>
              </a:rPr>
              <a:t>• Sales Conversion Optimization (Facebook ad campaigns) — Other (specified in the Kaggle dataset description)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5029200"/>
            <a:ext cx="48920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8F9DB8"/>
                </a:solidFill>
                <a:latin typeface="Segoe UI"/>
              </a:rPr>
              <a:t>No brand ad-account data is used or claimed. Spend, clicks, orders, ROAS and CAC are simulated (derived from public product signals). Policies are demo assumptions, not company strategy.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